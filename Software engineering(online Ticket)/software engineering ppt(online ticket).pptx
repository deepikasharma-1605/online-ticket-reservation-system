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59" r:id="rId5"/>
    <p:sldId id="287" r:id="rId6"/>
    <p:sldId id="273" r:id="rId7"/>
    <p:sldId id="260" r:id="rId8"/>
    <p:sldId id="275" r:id="rId9"/>
    <p:sldId id="289" r:id="rId10"/>
    <p:sldId id="274" r:id="rId11"/>
    <p:sldId id="276" r:id="rId12"/>
    <p:sldId id="278" r:id="rId13"/>
    <p:sldId id="280" r:id="rId14"/>
    <p:sldId id="281" r:id="rId15"/>
    <p:sldId id="290" r:id="rId16"/>
    <p:sldId id="262" r:id="rId17"/>
    <p:sldId id="263" r:id="rId18"/>
    <p:sldId id="282" r:id="rId19"/>
    <p:sldId id="291" r:id="rId20"/>
    <p:sldId id="264" r:id="rId21"/>
    <p:sldId id="283" r:id="rId22"/>
    <p:sldId id="265" r:id="rId23"/>
    <p:sldId id="284" r:id="rId24"/>
    <p:sldId id="288" r:id="rId25"/>
    <p:sldId id="285" r:id="rId26"/>
    <p:sldId id="286" r:id="rId27"/>
    <p:sldId id="267" r:id="rId28"/>
    <p:sldId id="269"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E8579C9-1B0B-4116-8066-DDC39304B841}">
          <p14:sldIdLst>
            <p14:sldId id="256"/>
            <p14:sldId id="257"/>
            <p14:sldId id="271"/>
            <p14:sldId id="259"/>
            <p14:sldId id="287"/>
            <p14:sldId id="273"/>
            <p14:sldId id="260"/>
            <p14:sldId id="275"/>
            <p14:sldId id="289"/>
            <p14:sldId id="274"/>
            <p14:sldId id="276"/>
            <p14:sldId id="278"/>
            <p14:sldId id="280"/>
            <p14:sldId id="281"/>
            <p14:sldId id="290"/>
            <p14:sldId id="262"/>
            <p14:sldId id="263"/>
            <p14:sldId id="282"/>
            <p14:sldId id="291"/>
            <p14:sldId id="264"/>
            <p14:sldId id="283"/>
            <p14:sldId id="265"/>
            <p14:sldId id="284"/>
            <p14:sldId id="288"/>
            <p14:sldId id="285"/>
            <p14:sldId id="286"/>
            <p14:sldId id="267"/>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C3071E-DFD4-48A5-9D99-4E3C49BA5D2B}" v="27" dt="2025-09-15T05:01:00.858"/>
    <p1510:client id="{8244B855-AA72-4774-B626-98A3D1D11903}" v="49" dt="2025-09-14T14:45:31.6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4" d="100"/>
          <a:sy n="64" d="100"/>
        </p:scale>
        <p:origin x="512" y="2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sharma" userId="546996a88f58ffbc" providerId="LiveId" clId="{074E693E-D37E-4BDC-BDFF-16DB20D14289}"/>
    <pc:docChg chg="custSel modSld">
      <pc:chgData name="Deepika sharma" userId="546996a88f58ffbc" providerId="LiveId" clId="{074E693E-D37E-4BDC-BDFF-16DB20D14289}" dt="2025-09-15T05:03:01.848" v="30" actId="20577"/>
      <pc:docMkLst>
        <pc:docMk/>
      </pc:docMkLst>
      <pc:sldChg chg="modTransition">
        <pc:chgData name="Deepika sharma" userId="546996a88f58ffbc" providerId="LiveId" clId="{074E693E-D37E-4BDC-BDFF-16DB20D14289}" dt="2025-09-15T04:57:41.836" v="1"/>
        <pc:sldMkLst>
          <pc:docMk/>
          <pc:sldMk cId="0" sldId="256"/>
        </pc:sldMkLst>
      </pc:sldChg>
      <pc:sldChg chg="modSp mod modTransition">
        <pc:chgData name="Deepika sharma" userId="546996a88f58ffbc" providerId="LiveId" clId="{074E693E-D37E-4BDC-BDFF-16DB20D14289}" dt="2025-09-15T05:03:01.848" v="30" actId="20577"/>
        <pc:sldMkLst>
          <pc:docMk/>
          <pc:sldMk cId="0" sldId="257"/>
        </pc:sldMkLst>
        <pc:graphicFrameChg chg="modGraphic">
          <ac:chgData name="Deepika sharma" userId="546996a88f58ffbc" providerId="LiveId" clId="{074E693E-D37E-4BDC-BDFF-16DB20D14289}" dt="2025-09-15T05:03:01.848" v="30" actId="20577"/>
          <ac:graphicFrameMkLst>
            <pc:docMk/>
            <pc:sldMk cId="0" sldId="257"/>
            <ac:graphicFrameMk id="6" creationId="{2EF2CE72-8869-5778-7606-62D65E1580A8}"/>
          </ac:graphicFrameMkLst>
        </pc:graphicFrameChg>
      </pc:sldChg>
      <pc:sldChg chg="modTransition">
        <pc:chgData name="Deepika sharma" userId="546996a88f58ffbc" providerId="LiveId" clId="{074E693E-D37E-4BDC-BDFF-16DB20D14289}" dt="2025-09-15T04:57:55.493" v="3"/>
        <pc:sldMkLst>
          <pc:docMk/>
          <pc:sldMk cId="0" sldId="259"/>
        </pc:sldMkLst>
      </pc:sldChg>
      <pc:sldChg chg="modTransition">
        <pc:chgData name="Deepika sharma" userId="546996a88f58ffbc" providerId="LiveId" clId="{074E693E-D37E-4BDC-BDFF-16DB20D14289}" dt="2025-09-15T04:58:12.145" v="6"/>
        <pc:sldMkLst>
          <pc:docMk/>
          <pc:sldMk cId="0" sldId="260"/>
        </pc:sldMkLst>
      </pc:sldChg>
      <pc:sldChg chg="modTransition">
        <pc:chgData name="Deepika sharma" userId="546996a88f58ffbc" providerId="LiveId" clId="{074E693E-D37E-4BDC-BDFF-16DB20D14289}" dt="2025-09-15T04:59:48.586" v="15"/>
        <pc:sldMkLst>
          <pc:docMk/>
          <pc:sldMk cId="0" sldId="262"/>
        </pc:sldMkLst>
      </pc:sldChg>
      <pc:sldChg chg="modTransition">
        <pc:chgData name="Deepika sharma" userId="546996a88f58ffbc" providerId="LiveId" clId="{074E693E-D37E-4BDC-BDFF-16DB20D14289}" dt="2025-09-15T04:59:52.632" v="16"/>
        <pc:sldMkLst>
          <pc:docMk/>
          <pc:sldMk cId="0" sldId="263"/>
        </pc:sldMkLst>
      </pc:sldChg>
      <pc:sldChg chg="modTransition">
        <pc:chgData name="Deepika sharma" userId="546996a88f58ffbc" providerId="LiveId" clId="{074E693E-D37E-4BDC-BDFF-16DB20D14289}" dt="2025-09-15T05:00:06.987" v="19"/>
        <pc:sldMkLst>
          <pc:docMk/>
          <pc:sldMk cId="0" sldId="264"/>
        </pc:sldMkLst>
      </pc:sldChg>
      <pc:sldChg chg="modTransition">
        <pc:chgData name="Deepika sharma" userId="546996a88f58ffbc" providerId="LiveId" clId="{074E693E-D37E-4BDC-BDFF-16DB20D14289}" dt="2025-09-15T05:00:19.947" v="21"/>
        <pc:sldMkLst>
          <pc:docMk/>
          <pc:sldMk cId="0" sldId="265"/>
        </pc:sldMkLst>
      </pc:sldChg>
      <pc:sldChg chg="modTransition">
        <pc:chgData name="Deepika sharma" userId="546996a88f58ffbc" providerId="LiveId" clId="{074E693E-D37E-4BDC-BDFF-16DB20D14289}" dt="2025-09-15T05:01:00.856" v="26"/>
        <pc:sldMkLst>
          <pc:docMk/>
          <pc:sldMk cId="0" sldId="267"/>
        </pc:sldMkLst>
      </pc:sldChg>
      <pc:sldChg chg="modTransition">
        <pc:chgData name="Deepika sharma" userId="546996a88f58ffbc" providerId="LiveId" clId="{074E693E-D37E-4BDC-BDFF-16DB20D14289}" dt="2025-09-15T04:57:48.900" v="2"/>
        <pc:sldMkLst>
          <pc:docMk/>
          <pc:sldMk cId="3054201239" sldId="271"/>
        </pc:sldMkLst>
      </pc:sldChg>
      <pc:sldChg chg="modTransition">
        <pc:chgData name="Deepika sharma" userId="546996a88f58ffbc" providerId="LiveId" clId="{074E693E-D37E-4BDC-BDFF-16DB20D14289}" dt="2025-09-15T04:58:06.124" v="5"/>
        <pc:sldMkLst>
          <pc:docMk/>
          <pc:sldMk cId="130731275" sldId="273"/>
        </pc:sldMkLst>
      </pc:sldChg>
      <pc:sldChg chg="modTransition">
        <pc:chgData name="Deepika sharma" userId="546996a88f58ffbc" providerId="LiveId" clId="{074E693E-D37E-4BDC-BDFF-16DB20D14289}" dt="2025-09-15T04:58:27.757" v="9"/>
        <pc:sldMkLst>
          <pc:docMk/>
          <pc:sldMk cId="888189962" sldId="274"/>
        </pc:sldMkLst>
      </pc:sldChg>
      <pc:sldChg chg="modTransition">
        <pc:chgData name="Deepika sharma" userId="546996a88f58ffbc" providerId="LiveId" clId="{074E693E-D37E-4BDC-BDFF-16DB20D14289}" dt="2025-09-15T04:58:17.477" v="7"/>
        <pc:sldMkLst>
          <pc:docMk/>
          <pc:sldMk cId="4186247569" sldId="275"/>
        </pc:sldMkLst>
      </pc:sldChg>
      <pc:sldChg chg="modTransition">
        <pc:chgData name="Deepika sharma" userId="546996a88f58ffbc" providerId="LiveId" clId="{074E693E-D37E-4BDC-BDFF-16DB20D14289}" dt="2025-09-15T04:58:32.758" v="10"/>
        <pc:sldMkLst>
          <pc:docMk/>
          <pc:sldMk cId="3648294227" sldId="276"/>
        </pc:sldMkLst>
      </pc:sldChg>
      <pc:sldChg chg="modTransition">
        <pc:chgData name="Deepika sharma" userId="546996a88f58ffbc" providerId="LiveId" clId="{074E693E-D37E-4BDC-BDFF-16DB20D14289}" dt="2025-09-15T04:58:37.179" v="11"/>
        <pc:sldMkLst>
          <pc:docMk/>
          <pc:sldMk cId="133855920" sldId="278"/>
        </pc:sldMkLst>
      </pc:sldChg>
      <pc:sldChg chg="modTransition">
        <pc:chgData name="Deepika sharma" userId="546996a88f58ffbc" providerId="LiveId" clId="{074E693E-D37E-4BDC-BDFF-16DB20D14289}" dt="2025-09-15T04:58:42.050" v="12"/>
        <pc:sldMkLst>
          <pc:docMk/>
          <pc:sldMk cId="464357002" sldId="280"/>
        </pc:sldMkLst>
      </pc:sldChg>
      <pc:sldChg chg="modTransition">
        <pc:chgData name="Deepika sharma" userId="546996a88f58ffbc" providerId="LiveId" clId="{074E693E-D37E-4BDC-BDFF-16DB20D14289}" dt="2025-09-15T04:58:47.249" v="13"/>
        <pc:sldMkLst>
          <pc:docMk/>
          <pc:sldMk cId="3928501670" sldId="281"/>
        </pc:sldMkLst>
      </pc:sldChg>
      <pc:sldChg chg="modTransition">
        <pc:chgData name="Deepika sharma" userId="546996a88f58ffbc" providerId="LiveId" clId="{074E693E-D37E-4BDC-BDFF-16DB20D14289}" dt="2025-09-15T04:59:56.666" v="17"/>
        <pc:sldMkLst>
          <pc:docMk/>
          <pc:sldMk cId="1063836266" sldId="282"/>
        </pc:sldMkLst>
      </pc:sldChg>
      <pc:sldChg chg="modTransition">
        <pc:chgData name="Deepika sharma" userId="546996a88f58ffbc" providerId="LiveId" clId="{074E693E-D37E-4BDC-BDFF-16DB20D14289}" dt="2025-09-15T05:00:15.074" v="20"/>
        <pc:sldMkLst>
          <pc:docMk/>
          <pc:sldMk cId="1314748620" sldId="283"/>
        </pc:sldMkLst>
      </pc:sldChg>
      <pc:sldChg chg="modTransition">
        <pc:chgData name="Deepika sharma" userId="546996a88f58ffbc" providerId="LiveId" clId="{074E693E-D37E-4BDC-BDFF-16DB20D14289}" dt="2025-09-15T05:00:25.255" v="22"/>
        <pc:sldMkLst>
          <pc:docMk/>
          <pc:sldMk cId="2929871114" sldId="284"/>
        </pc:sldMkLst>
      </pc:sldChg>
      <pc:sldChg chg="modTransition">
        <pc:chgData name="Deepika sharma" userId="546996a88f58ffbc" providerId="LiveId" clId="{074E693E-D37E-4BDC-BDFF-16DB20D14289}" dt="2025-09-15T05:00:48.968" v="24"/>
        <pc:sldMkLst>
          <pc:docMk/>
          <pc:sldMk cId="3058327009" sldId="285"/>
        </pc:sldMkLst>
      </pc:sldChg>
      <pc:sldChg chg="modTransition">
        <pc:chgData name="Deepika sharma" userId="546996a88f58ffbc" providerId="LiveId" clId="{074E693E-D37E-4BDC-BDFF-16DB20D14289}" dt="2025-09-15T05:00:54.496" v="25"/>
        <pc:sldMkLst>
          <pc:docMk/>
          <pc:sldMk cId="2017664208" sldId="286"/>
        </pc:sldMkLst>
      </pc:sldChg>
      <pc:sldChg chg="modTransition">
        <pc:chgData name="Deepika sharma" userId="546996a88f58ffbc" providerId="LiveId" clId="{074E693E-D37E-4BDC-BDFF-16DB20D14289}" dt="2025-09-15T04:58:01.010" v="4"/>
        <pc:sldMkLst>
          <pc:docMk/>
          <pc:sldMk cId="4292779214" sldId="287"/>
        </pc:sldMkLst>
      </pc:sldChg>
      <pc:sldChg chg="modTransition">
        <pc:chgData name="Deepika sharma" userId="546996a88f58ffbc" providerId="LiveId" clId="{074E693E-D37E-4BDC-BDFF-16DB20D14289}" dt="2025-09-15T05:00:31.740" v="23"/>
        <pc:sldMkLst>
          <pc:docMk/>
          <pc:sldMk cId="967065529" sldId="288"/>
        </pc:sldMkLst>
      </pc:sldChg>
      <pc:sldChg chg="modTransition">
        <pc:chgData name="Deepika sharma" userId="546996a88f58ffbc" providerId="LiveId" clId="{074E693E-D37E-4BDC-BDFF-16DB20D14289}" dt="2025-09-15T04:58:21.892" v="8"/>
        <pc:sldMkLst>
          <pc:docMk/>
          <pc:sldMk cId="3771657691" sldId="289"/>
        </pc:sldMkLst>
      </pc:sldChg>
      <pc:sldChg chg="modTransition">
        <pc:chgData name="Deepika sharma" userId="546996a88f58ffbc" providerId="LiveId" clId="{074E693E-D37E-4BDC-BDFF-16DB20D14289}" dt="2025-09-15T04:58:53.187" v="14"/>
        <pc:sldMkLst>
          <pc:docMk/>
          <pc:sldMk cId="1878521020" sldId="290"/>
        </pc:sldMkLst>
      </pc:sldChg>
      <pc:sldChg chg="modTransition">
        <pc:chgData name="Deepika sharma" userId="546996a88f58ffbc" providerId="LiveId" clId="{074E693E-D37E-4BDC-BDFF-16DB20D14289}" dt="2025-09-15T05:00:02.659" v="18"/>
        <pc:sldMkLst>
          <pc:docMk/>
          <pc:sldMk cId="3603114375" sldId="29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7740"/>
            <a:ext cx="8229600" cy="1143000"/>
          </a:xfrm>
        </p:spPr>
        <p:txBody>
          <a:bodyPr>
            <a:normAutofit/>
          </a:bodyPr>
          <a:lstStyle/>
          <a:p>
            <a:r>
              <a:rPr lang="en-US" b="1" dirty="0"/>
              <a:t>Online Ticket Reservation System</a:t>
            </a:r>
            <a:endParaRPr b="1" dirty="0"/>
          </a:p>
        </p:txBody>
      </p:sp>
      <p:sp>
        <p:nvSpPr>
          <p:cNvPr id="5" name="TextBox 4">
            <a:extLst>
              <a:ext uri="{FF2B5EF4-FFF2-40B4-BE49-F238E27FC236}">
                <a16:creationId xmlns:a16="http://schemas.microsoft.com/office/drawing/2014/main" id="{F0F55F95-40E1-95D2-7E31-CB527A493186}"/>
              </a:ext>
            </a:extLst>
          </p:cNvPr>
          <p:cNvSpPr txBox="1"/>
          <p:nvPr/>
        </p:nvSpPr>
        <p:spPr>
          <a:xfrm>
            <a:off x="676656" y="1892808"/>
            <a:ext cx="4114800" cy="584775"/>
          </a:xfrm>
          <a:prstGeom prst="rect">
            <a:avLst/>
          </a:prstGeom>
          <a:noFill/>
        </p:spPr>
        <p:txBody>
          <a:bodyPr wrap="square" rtlCol="0">
            <a:spAutoFit/>
          </a:bodyPr>
          <a:lstStyle/>
          <a:p>
            <a:endParaRPr lang="en-US" sz="1400" b="1" dirty="0"/>
          </a:p>
          <a:p>
            <a:endParaRPr lang="en-IN" dirty="0"/>
          </a:p>
        </p:txBody>
      </p:sp>
      <p:sp>
        <p:nvSpPr>
          <p:cNvPr id="7" name="TextBox 6">
            <a:extLst>
              <a:ext uri="{FF2B5EF4-FFF2-40B4-BE49-F238E27FC236}">
                <a16:creationId xmlns:a16="http://schemas.microsoft.com/office/drawing/2014/main" id="{AAB7ACF4-FFA8-6CA6-7E8A-AA87A6747DE2}"/>
              </a:ext>
            </a:extLst>
          </p:cNvPr>
          <p:cNvSpPr txBox="1"/>
          <p:nvPr/>
        </p:nvSpPr>
        <p:spPr>
          <a:xfrm>
            <a:off x="676656" y="1499616"/>
            <a:ext cx="5779008" cy="646331"/>
          </a:xfrm>
          <a:prstGeom prst="rect">
            <a:avLst/>
          </a:prstGeom>
          <a:noFill/>
        </p:spPr>
        <p:txBody>
          <a:bodyPr wrap="square" rtlCol="0">
            <a:spAutoFit/>
          </a:bodyPr>
          <a:lstStyle/>
          <a:p>
            <a:endParaRPr lang="en-IN" dirty="0"/>
          </a:p>
          <a:p>
            <a:r>
              <a:rPr lang="en-IN" b="1" dirty="0"/>
              <a:t>A Web Based Software Engineering Project</a:t>
            </a:r>
          </a:p>
        </p:txBody>
      </p:sp>
      <p:sp>
        <p:nvSpPr>
          <p:cNvPr id="8" name="TextBox 7">
            <a:extLst>
              <a:ext uri="{FF2B5EF4-FFF2-40B4-BE49-F238E27FC236}">
                <a16:creationId xmlns:a16="http://schemas.microsoft.com/office/drawing/2014/main" id="{AB298D1E-AA05-ED0C-E2DA-352CFECF59BC}"/>
              </a:ext>
            </a:extLst>
          </p:cNvPr>
          <p:cNvSpPr txBox="1"/>
          <p:nvPr/>
        </p:nvSpPr>
        <p:spPr>
          <a:xfrm>
            <a:off x="786383" y="4450442"/>
            <a:ext cx="6343759" cy="1815882"/>
          </a:xfrm>
          <a:prstGeom prst="rect">
            <a:avLst/>
          </a:prstGeom>
          <a:noFill/>
        </p:spPr>
        <p:txBody>
          <a:bodyPr wrap="square" rtlCol="0">
            <a:spAutoFit/>
          </a:bodyPr>
          <a:lstStyle/>
          <a:p>
            <a:endParaRPr lang="en-IN" sz="1400" b="1" dirty="0"/>
          </a:p>
          <a:p>
            <a:r>
              <a:rPr lang="en-IN" sz="1400" b="1" dirty="0"/>
              <a:t>Deepika- 23BCY1O185</a:t>
            </a:r>
          </a:p>
          <a:p>
            <a:r>
              <a:rPr lang="en-IN" sz="1400" b="1" dirty="0"/>
              <a:t>Paree Khatri- 23BCY10194</a:t>
            </a:r>
          </a:p>
          <a:p>
            <a:r>
              <a:rPr lang="en-IN" sz="1400" b="1" dirty="0"/>
              <a:t>Shreya Prakash-23	BCY10243</a:t>
            </a:r>
          </a:p>
          <a:p>
            <a:r>
              <a:rPr lang="en-IN" sz="1400" b="1" dirty="0"/>
              <a:t>Geetanjali Singh- 23BCY10238</a:t>
            </a:r>
          </a:p>
          <a:p>
            <a:r>
              <a:rPr lang="en-IN" sz="1400" b="1" dirty="0"/>
              <a:t>Divyanshi Chouhan-23BCY10152</a:t>
            </a:r>
            <a:br>
              <a:rPr lang="en-IN" sz="1400" dirty="0"/>
            </a:br>
            <a:br>
              <a:rPr lang="en-IN" sz="1400" dirty="0"/>
            </a:br>
            <a:endParaRPr lang="en-IN" sz="1400" dirty="0"/>
          </a:p>
        </p:txBody>
      </p:sp>
      <p:sp>
        <p:nvSpPr>
          <p:cNvPr id="12" name="TextBox 11">
            <a:extLst>
              <a:ext uri="{FF2B5EF4-FFF2-40B4-BE49-F238E27FC236}">
                <a16:creationId xmlns:a16="http://schemas.microsoft.com/office/drawing/2014/main" id="{BCE3F672-7B40-80D5-ACC1-7DCCE40B9D21}"/>
              </a:ext>
            </a:extLst>
          </p:cNvPr>
          <p:cNvSpPr txBox="1"/>
          <p:nvPr/>
        </p:nvSpPr>
        <p:spPr>
          <a:xfrm>
            <a:off x="786384" y="4100976"/>
            <a:ext cx="2770632" cy="369332"/>
          </a:xfrm>
          <a:prstGeom prst="rect">
            <a:avLst/>
          </a:prstGeom>
          <a:noFill/>
        </p:spPr>
        <p:txBody>
          <a:bodyPr wrap="square" rtlCol="0">
            <a:spAutoFit/>
          </a:bodyPr>
          <a:lstStyle/>
          <a:p>
            <a:r>
              <a:rPr lang="en-IN" b="1" dirty="0"/>
              <a:t>PRESENTED BY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Index</a:t>
            </a:r>
          </a:p>
        </p:txBody>
      </p:sp>
      <p:graphicFrame>
        <p:nvGraphicFramePr>
          <p:cNvPr id="6" name="Table 5">
            <a:extLst>
              <a:ext uri="{FF2B5EF4-FFF2-40B4-BE49-F238E27FC236}">
                <a16:creationId xmlns:a16="http://schemas.microsoft.com/office/drawing/2014/main" id="{2EF2CE72-8869-5778-7606-62D65E1580A8}"/>
              </a:ext>
            </a:extLst>
          </p:cNvPr>
          <p:cNvGraphicFramePr>
            <a:graphicFrameLocks noGrp="1"/>
          </p:cNvGraphicFramePr>
          <p:nvPr>
            <p:extLst>
              <p:ext uri="{D42A27DB-BD31-4B8C-83A1-F6EECF244321}">
                <p14:modId xmlns:p14="http://schemas.microsoft.com/office/powerpoint/2010/main" val="2472352219"/>
              </p:ext>
            </p:extLst>
          </p:nvPr>
        </p:nvGraphicFramePr>
        <p:xfrm>
          <a:off x="1524000" y="1397000"/>
          <a:ext cx="6096000" cy="4074160"/>
        </p:xfrm>
        <a:graphic>
          <a:graphicData uri="http://schemas.openxmlformats.org/drawingml/2006/table">
            <a:tbl>
              <a:tblPr firstRow="1" bandRow="1">
                <a:tableStyleId>{073A0DAA-6AF3-43AB-8588-CEC1D06C72B9}</a:tableStyleId>
              </a:tblPr>
              <a:tblGrid>
                <a:gridCol w="972312">
                  <a:extLst>
                    <a:ext uri="{9D8B030D-6E8A-4147-A177-3AD203B41FA5}">
                      <a16:colId xmlns:a16="http://schemas.microsoft.com/office/drawing/2014/main" val="1741581445"/>
                    </a:ext>
                  </a:extLst>
                </a:gridCol>
                <a:gridCol w="5123688">
                  <a:extLst>
                    <a:ext uri="{9D8B030D-6E8A-4147-A177-3AD203B41FA5}">
                      <a16:colId xmlns:a16="http://schemas.microsoft.com/office/drawing/2014/main" val="4057020779"/>
                    </a:ext>
                  </a:extLst>
                </a:gridCol>
              </a:tblGrid>
              <a:tr h="312928">
                <a:tc>
                  <a:txBody>
                    <a:bodyPr/>
                    <a:lstStyle/>
                    <a:p>
                      <a:r>
                        <a:rPr lang="en-IN" dirty="0"/>
                        <a:t>S.NO</a:t>
                      </a:r>
                    </a:p>
                  </a:txBody>
                  <a:tcPr/>
                </a:tc>
                <a:tc>
                  <a:txBody>
                    <a:bodyPr/>
                    <a:lstStyle/>
                    <a:p>
                      <a:pPr algn="ctr"/>
                      <a:r>
                        <a:rPr lang="en-IN" dirty="0"/>
                        <a:t>TABLE OF CONTENT</a:t>
                      </a:r>
                    </a:p>
                  </a:txBody>
                  <a:tcPr/>
                </a:tc>
                <a:extLst>
                  <a:ext uri="{0D108BD9-81ED-4DB2-BD59-A6C34878D82A}">
                    <a16:rowId xmlns:a16="http://schemas.microsoft.com/office/drawing/2014/main" val="2542329519"/>
                  </a:ext>
                </a:extLst>
              </a:tr>
              <a:tr h="370840">
                <a:tc>
                  <a:txBody>
                    <a:bodyPr/>
                    <a:lstStyle/>
                    <a:p>
                      <a:r>
                        <a:rPr lang="en-IN" dirty="0"/>
                        <a:t>1.</a:t>
                      </a:r>
                    </a:p>
                  </a:txBody>
                  <a:tcPr/>
                </a:tc>
                <a:tc>
                  <a:txBody>
                    <a:bodyPr/>
                    <a:lstStyle/>
                    <a:p>
                      <a:r>
                        <a:rPr lang="en-US" dirty="0"/>
                        <a:t>I</a:t>
                      </a:r>
                      <a:r>
                        <a:rPr lang="en-IN" dirty="0" err="1"/>
                        <a:t>ntroduction</a:t>
                      </a:r>
                      <a:endParaRPr lang="en-IN" dirty="0"/>
                    </a:p>
                  </a:txBody>
                  <a:tcPr/>
                </a:tc>
                <a:extLst>
                  <a:ext uri="{0D108BD9-81ED-4DB2-BD59-A6C34878D82A}">
                    <a16:rowId xmlns:a16="http://schemas.microsoft.com/office/drawing/2014/main" val="3645806017"/>
                  </a:ext>
                </a:extLst>
              </a:tr>
              <a:tr h="370840">
                <a:tc>
                  <a:txBody>
                    <a:bodyPr/>
                    <a:lstStyle/>
                    <a:p>
                      <a:r>
                        <a:rPr lang="en-IN" dirty="0"/>
                        <a:t>2.</a:t>
                      </a:r>
                    </a:p>
                  </a:txBody>
                  <a:tcPr/>
                </a:tc>
                <a:tc>
                  <a:txBody>
                    <a:bodyPr/>
                    <a:lstStyle/>
                    <a:p>
                      <a:r>
                        <a:rPr lang="en-US" dirty="0"/>
                        <a:t>P</a:t>
                      </a:r>
                      <a:r>
                        <a:rPr lang="en-IN" dirty="0" err="1"/>
                        <a:t>roject</a:t>
                      </a:r>
                      <a:r>
                        <a:rPr lang="en-IN" dirty="0"/>
                        <a:t> Objectives</a:t>
                      </a:r>
                    </a:p>
                  </a:txBody>
                  <a:tcPr/>
                </a:tc>
                <a:extLst>
                  <a:ext uri="{0D108BD9-81ED-4DB2-BD59-A6C34878D82A}">
                    <a16:rowId xmlns:a16="http://schemas.microsoft.com/office/drawing/2014/main" val="4257522655"/>
                  </a:ext>
                </a:extLst>
              </a:tr>
              <a:tr h="370840">
                <a:tc>
                  <a:txBody>
                    <a:bodyPr/>
                    <a:lstStyle/>
                    <a:p>
                      <a:r>
                        <a:rPr lang="en-IN" dirty="0"/>
                        <a:t>3.</a:t>
                      </a:r>
                    </a:p>
                  </a:txBody>
                  <a:tcPr/>
                </a:tc>
                <a:tc>
                  <a:txBody>
                    <a:bodyPr/>
                    <a:lstStyle/>
                    <a:p>
                      <a:r>
                        <a:rPr lang="en-US" dirty="0"/>
                        <a:t>L</a:t>
                      </a:r>
                      <a:r>
                        <a:rPr lang="en-IN" dirty="0" err="1"/>
                        <a:t>iterature</a:t>
                      </a:r>
                      <a:r>
                        <a:rPr lang="en-IN" dirty="0"/>
                        <a:t> Review</a:t>
                      </a:r>
                    </a:p>
                  </a:txBody>
                  <a:tcPr/>
                </a:tc>
                <a:extLst>
                  <a:ext uri="{0D108BD9-81ED-4DB2-BD59-A6C34878D82A}">
                    <a16:rowId xmlns:a16="http://schemas.microsoft.com/office/drawing/2014/main" val="2932688540"/>
                  </a:ext>
                </a:extLst>
              </a:tr>
              <a:tr h="370840">
                <a:tc>
                  <a:txBody>
                    <a:bodyPr/>
                    <a:lstStyle/>
                    <a:p>
                      <a:r>
                        <a:rPr lang="en-IN" dirty="0"/>
                        <a:t>4.</a:t>
                      </a:r>
                    </a:p>
                  </a:txBody>
                  <a:tcPr/>
                </a:tc>
                <a:tc>
                  <a:txBody>
                    <a:bodyPr/>
                    <a:lstStyle/>
                    <a:p>
                      <a:r>
                        <a:rPr lang="en-IN" dirty="0"/>
                        <a:t>Problem Statement</a:t>
                      </a:r>
                    </a:p>
                  </a:txBody>
                  <a:tcPr/>
                </a:tc>
                <a:extLst>
                  <a:ext uri="{0D108BD9-81ED-4DB2-BD59-A6C34878D82A}">
                    <a16:rowId xmlns:a16="http://schemas.microsoft.com/office/drawing/2014/main" val="3551912534"/>
                  </a:ext>
                </a:extLst>
              </a:tr>
              <a:tr h="370840">
                <a:tc>
                  <a:txBody>
                    <a:bodyPr/>
                    <a:lstStyle/>
                    <a:p>
                      <a:r>
                        <a:rPr lang="en-IN" dirty="0"/>
                        <a:t>5.</a:t>
                      </a:r>
                    </a:p>
                  </a:txBody>
                  <a:tcPr/>
                </a:tc>
                <a:tc>
                  <a:txBody>
                    <a:bodyPr/>
                    <a:lstStyle/>
                    <a:p>
                      <a:r>
                        <a:rPr lang="en-IN" dirty="0"/>
                        <a:t>Methodology</a:t>
                      </a:r>
                    </a:p>
                  </a:txBody>
                  <a:tcPr/>
                </a:tc>
                <a:extLst>
                  <a:ext uri="{0D108BD9-81ED-4DB2-BD59-A6C34878D82A}">
                    <a16:rowId xmlns:a16="http://schemas.microsoft.com/office/drawing/2014/main" val="3501493239"/>
                  </a:ext>
                </a:extLst>
              </a:tr>
              <a:tr h="370840">
                <a:tc>
                  <a:txBody>
                    <a:bodyPr/>
                    <a:lstStyle/>
                    <a:p>
                      <a:r>
                        <a:rPr lang="en-IN" dirty="0"/>
                        <a:t>6.</a:t>
                      </a:r>
                    </a:p>
                  </a:txBody>
                  <a:tcPr/>
                </a:tc>
                <a:tc>
                  <a:txBody>
                    <a:bodyPr/>
                    <a:lstStyle/>
                    <a:p>
                      <a:r>
                        <a:rPr lang="en-IN" dirty="0"/>
                        <a:t>Proposed Method </a:t>
                      </a:r>
                    </a:p>
                  </a:txBody>
                  <a:tcPr/>
                </a:tc>
                <a:extLst>
                  <a:ext uri="{0D108BD9-81ED-4DB2-BD59-A6C34878D82A}">
                    <a16:rowId xmlns:a16="http://schemas.microsoft.com/office/drawing/2014/main" val="1513349889"/>
                  </a:ext>
                </a:extLst>
              </a:tr>
              <a:tr h="370840">
                <a:tc>
                  <a:txBody>
                    <a:bodyPr/>
                    <a:lstStyle/>
                    <a:p>
                      <a:r>
                        <a:rPr lang="en-IN" dirty="0"/>
                        <a:t>7.</a:t>
                      </a:r>
                    </a:p>
                  </a:txBody>
                  <a:tcPr/>
                </a:tc>
                <a:tc>
                  <a:txBody>
                    <a:bodyPr/>
                    <a:lstStyle/>
                    <a:p>
                      <a:r>
                        <a:rPr lang="en-US" dirty="0"/>
                        <a:t>Workflow of the project</a:t>
                      </a:r>
                      <a:endParaRPr lang="en-IN" dirty="0"/>
                    </a:p>
                  </a:txBody>
                  <a:tcPr/>
                </a:tc>
                <a:extLst>
                  <a:ext uri="{0D108BD9-81ED-4DB2-BD59-A6C34878D82A}">
                    <a16:rowId xmlns:a16="http://schemas.microsoft.com/office/drawing/2014/main" val="3193957296"/>
                  </a:ext>
                </a:extLst>
              </a:tr>
              <a:tr h="370840">
                <a:tc>
                  <a:txBody>
                    <a:bodyPr/>
                    <a:lstStyle/>
                    <a:p>
                      <a:r>
                        <a:rPr lang="en-IN" dirty="0"/>
                        <a:t>8.</a:t>
                      </a:r>
                    </a:p>
                  </a:txBody>
                  <a:tcPr/>
                </a:tc>
                <a:tc>
                  <a:txBody>
                    <a:bodyPr/>
                    <a:lstStyle/>
                    <a:p>
                      <a:r>
                        <a:rPr lang="en-US" dirty="0"/>
                        <a:t>Source Code </a:t>
                      </a:r>
                      <a:endParaRPr lang="en-IN" dirty="0"/>
                    </a:p>
                  </a:txBody>
                  <a:tcPr/>
                </a:tc>
                <a:extLst>
                  <a:ext uri="{0D108BD9-81ED-4DB2-BD59-A6C34878D82A}">
                    <a16:rowId xmlns:a16="http://schemas.microsoft.com/office/drawing/2014/main" val="2418894376"/>
                  </a:ext>
                </a:extLst>
              </a:tr>
              <a:tr h="370840">
                <a:tc>
                  <a:txBody>
                    <a:bodyPr/>
                    <a:lstStyle/>
                    <a:p>
                      <a:r>
                        <a:rPr lang="en-IN" dirty="0"/>
                        <a:t>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Results &amp; Discussion</a:t>
                      </a:r>
                    </a:p>
                  </a:txBody>
                  <a:tcPr/>
                </a:tc>
                <a:extLst>
                  <a:ext uri="{0D108BD9-81ED-4DB2-BD59-A6C34878D82A}">
                    <a16:rowId xmlns:a16="http://schemas.microsoft.com/office/drawing/2014/main" val="3363694859"/>
                  </a:ext>
                </a:extLst>
              </a:tr>
              <a:tr h="370840">
                <a:tc>
                  <a:txBody>
                    <a:bodyPr/>
                    <a:lstStyle/>
                    <a:p>
                      <a:r>
                        <a:rPr lang="en-IN" dirty="0"/>
                        <a:t>10.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Conclusion</a:t>
                      </a:r>
                    </a:p>
                  </a:txBody>
                  <a:tcPr/>
                </a:tc>
                <a:extLst>
                  <a:ext uri="{0D108BD9-81ED-4DB2-BD59-A6C34878D82A}">
                    <a16:rowId xmlns:a16="http://schemas.microsoft.com/office/drawing/2014/main" val="3164925915"/>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3196A-1970-3574-3A1D-2B5BF2A8D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7BD8F-ABBE-A13E-F996-9CF518F0060C}"/>
              </a:ext>
            </a:extLst>
          </p:cNvPr>
          <p:cNvSpPr>
            <a:spLocks noGrp="1"/>
          </p:cNvSpPr>
          <p:nvPr>
            <p:ph type="title"/>
          </p:nvPr>
        </p:nvSpPr>
        <p:spPr/>
        <p:txBody>
          <a:bodyPr/>
          <a:lstStyle/>
          <a:p>
            <a:r>
              <a:rPr lang="en-IN" b="1" dirty="0"/>
              <a:t>Team members W</a:t>
            </a:r>
            <a:r>
              <a:rPr b="1" dirty="0" err="1"/>
              <a:t>ork</a:t>
            </a:r>
            <a:r>
              <a:rPr lang="en-IN" b="1" dirty="0"/>
              <a:t> distribution</a:t>
            </a:r>
            <a:endParaRPr b="1" dirty="0"/>
          </a:p>
        </p:txBody>
      </p:sp>
      <p:graphicFrame>
        <p:nvGraphicFramePr>
          <p:cNvPr id="4" name="Table 3">
            <a:extLst>
              <a:ext uri="{FF2B5EF4-FFF2-40B4-BE49-F238E27FC236}">
                <a16:creationId xmlns:a16="http://schemas.microsoft.com/office/drawing/2014/main" id="{57642F12-C928-039A-F0F1-B943BE8A87F0}"/>
              </a:ext>
            </a:extLst>
          </p:cNvPr>
          <p:cNvGraphicFramePr>
            <a:graphicFrameLocks noGrp="1"/>
          </p:cNvGraphicFramePr>
          <p:nvPr>
            <p:extLst>
              <p:ext uri="{D42A27DB-BD31-4B8C-83A1-F6EECF244321}">
                <p14:modId xmlns:p14="http://schemas.microsoft.com/office/powerpoint/2010/main" val="1329910992"/>
              </p:ext>
            </p:extLst>
          </p:nvPr>
        </p:nvGraphicFramePr>
        <p:xfrm>
          <a:off x="996696" y="1956816"/>
          <a:ext cx="7379208" cy="4305300"/>
        </p:xfrm>
        <a:graphic>
          <a:graphicData uri="http://schemas.openxmlformats.org/drawingml/2006/table">
            <a:tbl>
              <a:tblPr firstRow="1" bandRow="1">
                <a:tableStyleId>{5C22544A-7EE6-4342-B048-85BDC9FD1C3A}</a:tableStyleId>
              </a:tblPr>
              <a:tblGrid>
                <a:gridCol w="841248">
                  <a:extLst>
                    <a:ext uri="{9D8B030D-6E8A-4147-A177-3AD203B41FA5}">
                      <a16:colId xmlns:a16="http://schemas.microsoft.com/office/drawing/2014/main" val="440692722"/>
                    </a:ext>
                  </a:extLst>
                </a:gridCol>
                <a:gridCol w="1920240">
                  <a:extLst>
                    <a:ext uri="{9D8B030D-6E8A-4147-A177-3AD203B41FA5}">
                      <a16:colId xmlns:a16="http://schemas.microsoft.com/office/drawing/2014/main" val="872294452"/>
                    </a:ext>
                  </a:extLst>
                </a:gridCol>
                <a:gridCol w="1929384">
                  <a:extLst>
                    <a:ext uri="{9D8B030D-6E8A-4147-A177-3AD203B41FA5}">
                      <a16:colId xmlns:a16="http://schemas.microsoft.com/office/drawing/2014/main" val="343113905"/>
                    </a:ext>
                  </a:extLst>
                </a:gridCol>
                <a:gridCol w="2688336">
                  <a:extLst>
                    <a:ext uri="{9D8B030D-6E8A-4147-A177-3AD203B41FA5}">
                      <a16:colId xmlns:a16="http://schemas.microsoft.com/office/drawing/2014/main" val="2035149608"/>
                    </a:ext>
                  </a:extLst>
                </a:gridCol>
              </a:tblGrid>
              <a:tr h="678180">
                <a:tc>
                  <a:txBody>
                    <a:bodyPr/>
                    <a:lstStyle/>
                    <a:p>
                      <a:r>
                        <a:rPr lang="en-IN" dirty="0"/>
                        <a:t>S.NO</a:t>
                      </a:r>
                    </a:p>
                  </a:txBody>
                  <a:tcPr/>
                </a:tc>
                <a:tc>
                  <a:txBody>
                    <a:bodyPr/>
                    <a:lstStyle/>
                    <a:p>
                      <a:r>
                        <a:rPr lang="en-IN" dirty="0"/>
                        <a:t>TEAM MEMBERS</a:t>
                      </a:r>
                    </a:p>
                  </a:txBody>
                  <a:tcPr/>
                </a:tc>
                <a:tc>
                  <a:txBody>
                    <a:bodyPr/>
                    <a:lstStyle/>
                    <a:p>
                      <a:r>
                        <a:rPr lang="en-IN" dirty="0"/>
                        <a:t>REGISTRATION NUMBER</a:t>
                      </a:r>
                    </a:p>
                  </a:txBody>
                  <a:tcPr/>
                </a:tc>
                <a:tc>
                  <a:txBody>
                    <a:bodyPr/>
                    <a:lstStyle/>
                    <a:p>
                      <a:r>
                        <a:rPr lang="en-IN" dirty="0"/>
                        <a:t>WORK DISTRIBUTION</a:t>
                      </a:r>
                    </a:p>
                  </a:txBody>
                  <a:tcPr/>
                </a:tc>
                <a:extLst>
                  <a:ext uri="{0D108BD9-81ED-4DB2-BD59-A6C34878D82A}">
                    <a16:rowId xmlns:a16="http://schemas.microsoft.com/office/drawing/2014/main" val="20085308"/>
                  </a:ext>
                </a:extLst>
              </a:tr>
              <a:tr h="678180">
                <a:tc>
                  <a:txBody>
                    <a:bodyPr/>
                    <a:lstStyle/>
                    <a:p>
                      <a:r>
                        <a:rPr lang="en-IN" dirty="0"/>
                        <a:t>1.</a:t>
                      </a: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t>Deepika </a:t>
                      </a:r>
                      <a:endParaRPr lang="en-IN" dirty="0"/>
                    </a:p>
                  </a:txBody>
                  <a:tcPr/>
                </a:tc>
                <a:tc>
                  <a:txBody>
                    <a:bodyPr/>
                    <a:lstStyle/>
                    <a:p>
                      <a:r>
                        <a:rPr lang="en-IN" sz="1800" dirty="0"/>
                        <a:t>23BCY10185</a:t>
                      </a:r>
                      <a:endParaRPr lang="en-IN" dirty="0"/>
                    </a:p>
                  </a:txBody>
                  <a:tcPr/>
                </a:tc>
                <a:tc>
                  <a:txBody>
                    <a:bodyPr/>
                    <a:lstStyle/>
                    <a:p>
                      <a:r>
                        <a:rPr lang="en-US" dirty="0"/>
                        <a:t>Software</a:t>
                      </a:r>
                      <a:endParaRPr lang="en-IN" dirty="0"/>
                    </a:p>
                  </a:txBody>
                  <a:tcPr/>
                </a:tc>
                <a:extLst>
                  <a:ext uri="{0D108BD9-81ED-4DB2-BD59-A6C34878D82A}">
                    <a16:rowId xmlns:a16="http://schemas.microsoft.com/office/drawing/2014/main" val="2254781391"/>
                  </a:ext>
                </a:extLst>
              </a:tr>
              <a:tr h="678180">
                <a:tc>
                  <a:txBody>
                    <a:bodyPr/>
                    <a:lstStyle/>
                    <a:p>
                      <a:r>
                        <a:rPr lang="en-IN" dirty="0"/>
                        <a:t>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t>Paree Khatri </a:t>
                      </a:r>
                      <a:endParaRPr lang="en-IN" dirty="0"/>
                    </a:p>
                  </a:txBody>
                  <a:tcPr/>
                </a:tc>
                <a:tc>
                  <a:txBody>
                    <a:bodyPr/>
                    <a:lstStyle/>
                    <a:p>
                      <a:r>
                        <a:rPr lang="en-IN" sz="1800" dirty="0"/>
                        <a:t>23BCY10194</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SRS Document</a:t>
                      </a:r>
                      <a:endParaRPr lang="en-IN" sz="1800" dirty="0"/>
                    </a:p>
                  </a:txBody>
                  <a:tcPr/>
                </a:tc>
                <a:extLst>
                  <a:ext uri="{0D108BD9-81ED-4DB2-BD59-A6C34878D82A}">
                    <a16:rowId xmlns:a16="http://schemas.microsoft.com/office/drawing/2014/main" val="372365081"/>
                  </a:ext>
                </a:extLst>
              </a:tr>
              <a:tr h="678180">
                <a:tc>
                  <a:txBody>
                    <a:bodyPr/>
                    <a:lstStyle/>
                    <a:p>
                      <a:r>
                        <a:rPr lang="en-IN" dirty="0"/>
                        <a:t>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dirty="0"/>
                        <a:t>Shreya Prakash </a:t>
                      </a:r>
                      <a:endParaRPr lang="en-IN" dirty="0"/>
                    </a:p>
                  </a:txBody>
                  <a:tcPr/>
                </a:tc>
                <a:tc>
                  <a:txBody>
                    <a:bodyPr/>
                    <a:lstStyle/>
                    <a:p>
                      <a:r>
                        <a:rPr lang="en-IN" sz="1800" dirty="0"/>
                        <a:t>23BCY10243</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SRS Document</a:t>
                      </a:r>
                      <a:endParaRPr lang="en-IN" sz="1800" dirty="0"/>
                    </a:p>
                  </a:txBody>
                  <a:tcPr/>
                </a:tc>
                <a:extLst>
                  <a:ext uri="{0D108BD9-81ED-4DB2-BD59-A6C34878D82A}">
                    <a16:rowId xmlns:a16="http://schemas.microsoft.com/office/drawing/2014/main" val="420075381"/>
                  </a:ext>
                </a:extLst>
              </a:tr>
              <a:tr h="678180">
                <a:tc>
                  <a:txBody>
                    <a:bodyPr/>
                    <a:lstStyle/>
                    <a:p>
                      <a:r>
                        <a:rPr lang="en-IN" dirty="0"/>
                        <a:t>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G</a:t>
                      </a:r>
                      <a:r>
                        <a:rPr lang="en-IN" sz="1800" dirty="0" err="1"/>
                        <a:t>eetanjali</a:t>
                      </a:r>
                      <a:r>
                        <a:rPr lang="en-IN" sz="1800" dirty="0"/>
                        <a:t> Singh</a:t>
                      </a:r>
                      <a:endParaRPr lang="en-IN" dirty="0"/>
                    </a:p>
                  </a:txBody>
                  <a:tcPr/>
                </a:tc>
                <a:tc>
                  <a:txBody>
                    <a:bodyPr/>
                    <a:lstStyle/>
                    <a:p>
                      <a:r>
                        <a:rPr lang="en-IN" sz="1800" dirty="0"/>
                        <a:t>23BCY10238</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t>PPT</a:t>
                      </a:r>
                      <a:endParaRPr lang="en-IN" sz="1800" dirty="0"/>
                    </a:p>
                  </a:txBody>
                  <a:tcPr/>
                </a:tc>
                <a:extLst>
                  <a:ext uri="{0D108BD9-81ED-4DB2-BD59-A6C34878D82A}">
                    <a16:rowId xmlns:a16="http://schemas.microsoft.com/office/drawing/2014/main" val="598467118"/>
                  </a:ext>
                </a:extLst>
              </a:tr>
              <a:tr h="678180">
                <a:tc>
                  <a:txBody>
                    <a:bodyPr/>
                    <a:lstStyle/>
                    <a:p>
                      <a:r>
                        <a:rPr lang="en-IN" dirty="0"/>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Divyanshi Chouhan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r>
                        <a:rPr lang="en-IN" sz="1800" dirty="0"/>
                        <a:t>23BCY10152</a:t>
                      </a:r>
                      <a:endParaRPr lang="en-IN" dirty="0"/>
                    </a:p>
                  </a:txBody>
                  <a:tcPr/>
                </a:tc>
                <a:tc>
                  <a:txBody>
                    <a:bodyPr/>
                    <a:lstStyle/>
                    <a:p>
                      <a:r>
                        <a:rPr lang="en-US" dirty="0"/>
                        <a:t>PPT</a:t>
                      </a:r>
                      <a:endParaRPr lang="en-IN" dirty="0"/>
                    </a:p>
                  </a:txBody>
                  <a:tcPr/>
                </a:tc>
                <a:extLst>
                  <a:ext uri="{0D108BD9-81ED-4DB2-BD59-A6C34878D82A}">
                    <a16:rowId xmlns:a16="http://schemas.microsoft.com/office/drawing/2014/main" val="2037561165"/>
                  </a:ext>
                </a:extLst>
              </a:tr>
            </a:tbl>
          </a:graphicData>
        </a:graphic>
      </p:graphicFrame>
    </p:spTree>
    <p:extLst>
      <p:ext uri="{BB962C8B-B14F-4D97-AF65-F5344CB8AC3E}">
        <p14:creationId xmlns:p14="http://schemas.microsoft.com/office/powerpoint/2010/main" val="30542012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9542"/>
            <a:ext cx="8229600" cy="1143000"/>
          </a:xfrm>
        </p:spPr>
        <p:txBody>
          <a:bodyPr/>
          <a:lstStyle/>
          <a:p>
            <a:r>
              <a:rPr b="1" dirty="0"/>
              <a:t>Introduction</a:t>
            </a:r>
          </a:p>
        </p:txBody>
      </p:sp>
      <p:sp>
        <p:nvSpPr>
          <p:cNvPr id="3" name="Content Placeholder 2"/>
          <p:cNvSpPr>
            <a:spLocks noGrp="1"/>
          </p:cNvSpPr>
          <p:nvPr>
            <p:ph idx="1"/>
          </p:nvPr>
        </p:nvSpPr>
        <p:spPr/>
        <p:txBody>
          <a:bodyPr anchor="t"/>
          <a:lstStyle/>
          <a:p>
            <a:endParaRPr lang="en-US" sz="1800" dirty="0"/>
          </a:p>
          <a:p>
            <a:endParaRPr lang="en-US" sz="1800" dirty="0"/>
          </a:p>
          <a:p>
            <a:r>
              <a:rPr lang="en-US" sz="1800" dirty="0"/>
              <a:t>The </a:t>
            </a:r>
            <a:r>
              <a:rPr lang="en-US" sz="1800" i="1" dirty="0"/>
              <a:t>Online Ticket Reservation System</a:t>
            </a:r>
            <a:r>
              <a:rPr lang="en-US" sz="1800" dirty="0"/>
              <a:t> is designed to automate and simplify the booking process through a secure, efficient, and user-friendly platform. Unlike traditional manual reservations, which are time-consuming and error-prone, this system provides customers with </a:t>
            </a:r>
            <a:r>
              <a:rPr lang="en-US" sz="1800" b="1" dirty="0"/>
              <a:t>24/7 access</a:t>
            </a:r>
            <a:r>
              <a:rPr lang="en-US" sz="1800" dirty="0"/>
              <a:t> to real-time ticket availability, booking, cancellation, and online payment facilities.</a:t>
            </a:r>
          </a:p>
          <a:p>
            <a:pPr marL="0" indent="0">
              <a:buNone/>
            </a:pPr>
            <a:endParaRPr lang="en-US" sz="1800" dirty="0"/>
          </a:p>
          <a:p>
            <a:pPr marL="0" indent="0">
              <a:buNone/>
            </a:pPr>
            <a:endParaRPr lang="en-US" sz="1800" dirty="0"/>
          </a:p>
          <a:p>
            <a:r>
              <a:rPr lang="en-US" sz="1800" dirty="0"/>
              <a:t>Its main purpose is to enhance convenience for customers while reducing administrative workload. By offering instant e-tickets, transparent transactions, and faster services, the system improves the overall experience for both users and service providers.</a:t>
            </a:r>
          </a:p>
          <a:p>
            <a:pPr>
              <a:lnSpc>
                <a:spcPct val="150000"/>
              </a:lnSpc>
            </a:pPr>
            <a:endParaRPr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EA709FA-E94C-CD7E-D18E-79E5FBDC2468}"/>
              </a:ext>
            </a:extLst>
          </p:cNvPr>
          <p:cNvSpPr txBox="1"/>
          <p:nvPr/>
        </p:nvSpPr>
        <p:spPr>
          <a:xfrm>
            <a:off x="3766457" y="4771797"/>
            <a:ext cx="2264229" cy="369332"/>
          </a:xfrm>
          <a:prstGeom prst="rect">
            <a:avLst/>
          </a:prstGeom>
          <a:noFill/>
        </p:spPr>
        <p:txBody>
          <a:bodyPr wrap="square" rtlCol="0">
            <a:spAutoFit/>
          </a:bodyPr>
          <a:lstStyle/>
          <a:p>
            <a:r>
              <a:rPr lang="en-US" dirty="0"/>
              <a:t>Context Diagram</a:t>
            </a:r>
            <a:endParaRPr lang="en-IN" dirty="0"/>
          </a:p>
        </p:txBody>
      </p:sp>
      <p:pic>
        <p:nvPicPr>
          <p:cNvPr id="5" name="Content Placeholder 4">
            <a:extLst>
              <a:ext uri="{FF2B5EF4-FFF2-40B4-BE49-F238E27FC236}">
                <a16:creationId xmlns:a16="http://schemas.microsoft.com/office/drawing/2014/main" id="{8F524CB9-558D-80D2-674F-D7FFFEFF9632}"/>
              </a:ext>
            </a:extLst>
          </p:cNvPr>
          <p:cNvPicPr>
            <a:picLocks noGrp="1" noChangeAspect="1"/>
          </p:cNvPicPr>
          <p:nvPr>
            <p:ph idx="1"/>
          </p:nvPr>
        </p:nvPicPr>
        <p:blipFill>
          <a:blip r:embed="rId2"/>
          <a:stretch>
            <a:fillRect/>
          </a:stretch>
        </p:blipFill>
        <p:spPr>
          <a:xfrm>
            <a:off x="674914" y="2673249"/>
            <a:ext cx="8229600" cy="2098548"/>
          </a:xfrm>
        </p:spPr>
      </p:pic>
      <p:sp>
        <p:nvSpPr>
          <p:cNvPr id="6" name="TextBox 5">
            <a:extLst>
              <a:ext uri="{FF2B5EF4-FFF2-40B4-BE49-F238E27FC236}">
                <a16:creationId xmlns:a16="http://schemas.microsoft.com/office/drawing/2014/main" id="{3F2E25FF-9AC7-A921-290F-E0A858AF9CC1}"/>
              </a:ext>
            </a:extLst>
          </p:cNvPr>
          <p:cNvSpPr txBox="1"/>
          <p:nvPr/>
        </p:nvSpPr>
        <p:spPr>
          <a:xfrm>
            <a:off x="2296886" y="1905000"/>
            <a:ext cx="6455229" cy="369332"/>
          </a:xfrm>
          <a:prstGeom prst="rect">
            <a:avLst/>
          </a:prstGeom>
          <a:noFill/>
        </p:spPr>
        <p:txBody>
          <a:bodyPr wrap="square" rtlCol="0">
            <a:spAutoFit/>
          </a:bodyPr>
          <a:lstStyle/>
          <a:p>
            <a:r>
              <a:rPr lang="en-US" dirty="0"/>
              <a:t>Example - online railway ticket booking system</a:t>
            </a:r>
            <a:endParaRPr lang="en-IN" dirty="0"/>
          </a:p>
        </p:txBody>
      </p:sp>
    </p:spTree>
    <p:extLst>
      <p:ext uri="{BB962C8B-B14F-4D97-AF65-F5344CB8AC3E}">
        <p14:creationId xmlns:p14="http://schemas.microsoft.com/office/powerpoint/2010/main" val="42927792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3507D9-DF68-9DCA-202E-A78C6F77F159}"/>
              </a:ext>
            </a:extLst>
          </p:cNvPr>
          <p:cNvSpPr>
            <a:spLocks noGrp="1"/>
          </p:cNvSpPr>
          <p:nvPr>
            <p:ph idx="1"/>
          </p:nvPr>
        </p:nvSpPr>
        <p:spPr>
          <a:xfrm>
            <a:off x="292608" y="667512"/>
            <a:ext cx="8668512" cy="5925312"/>
          </a:xfrm>
        </p:spPr>
        <p:txBody>
          <a:bodyPr>
            <a:normAutofit/>
          </a:bodyPr>
          <a:lstStyle/>
          <a:p>
            <a:pPr marL="0" indent="0">
              <a:buNone/>
            </a:pPr>
            <a:r>
              <a:rPr lang="en-US" sz="1800" dirty="0"/>
              <a:t>The system provides a </a:t>
            </a:r>
            <a:r>
              <a:rPr lang="en-US" sz="1800" b="1" dirty="0"/>
              <a:t>centralized solution</a:t>
            </a:r>
            <a:r>
              <a:rPr lang="en-US" sz="1800" dirty="0"/>
              <a:t> for both customers and administrators.</a:t>
            </a:r>
          </a:p>
          <a:p>
            <a:r>
              <a:rPr lang="en-US" sz="1800" b="1" dirty="0"/>
              <a:t>Customers</a:t>
            </a:r>
            <a:r>
              <a:rPr lang="en-US" sz="1800" dirty="0"/>
              <a:t> can search routes, reserve seats, make secure payments, and manage cancellations.</a:t>
            </a:r>
          </a:p>
          <a:p>
            <a:r>
              <a:rPr lang="en-US" sz="1800" b="1" dirty="0"/>
              <a:t>Administrators</a:t>
            </a:r>
            <a:r>
              <a:rPr lang="en-US" sz="1800" dirty="0"/>
              <a:t> can manage schedules, ticket inventory, pricing, and generate reports for revenue monitoring.</a:t>
            </a:r>
          </a:p>
          <a:p>
            <a:endParaRPr lang="en-US" sz="1800" dirty="0"/>
          </a:p>
          <a:p>
            <a:pPr marL="0" indent="0">
              <a:buNone/>
            </a:pPr>
            <a:r>
              <a:rPr lang="en-US" sz="1800" dirty="0"/>
              <a:t>This ensures real-time updates, reduced dependency on manual staff, and accurate handling of reservations. The scope of the system covers all major aspects of ticket management, making the process more efficient and reliable.</a:t>
            </a:r>
          </a:p>
          <a:p>
            <a:endParaRPr lang="en-IN" sz="1800" dirty="0"/>
          </a:p>
          <a:p>
            <a:pPr marL="0" indent="0">
              <a:buNone/>
            </a:pPr>
            <a:r>
              <a:rPr lang="en-US" sz="1800" dirty="0"/>
              <a:t>The Online Ticket Reservation System delivers benefits such as:-</a:t>
            </a:r>
          </a:p>
          <a:p>
            <a:r>
              <a:rPr lang="en-US" sz="1800" b="1" dirty="0"/>
              <a:t>Customer Side:</a:t>
            </a:r>
            <a:r>
              <a:rPr lang="en-US" sz="1800" dirty="0"/>
              <a:t> Convenience, transparency, time savings, and 24/7 access.</a:t>
            </a:r>
          </a:p>
          <a:p>
            <a:r>
              <a:rPr lang="en-US" sz="1800" b="1" dirty="0"/>
              <a:t>Administration Side:</a:t>
            </a:r>
            <a:r>
              <a:rPr lang="en-US" sz="1800" dirty="0"/>
              <a:t> Reduced manual effort, better management, and accurate reporting.</a:t>
            </a:r>
          </a:p>
          <a:p>
            <a:endParaRPr lang="en-US" sz="1800" dirty="0"/>
          </a:p>
          <a:p>
            <a:pPr marL="0" indent="0">
              <a:buNone/>
            </a:pPr>
            <a:r>
              <a:rPr lang="en-US" sz="1800" dirty="0"/>
              <a:t>In conclusion, it acts as a </a:t>
            </a:r>
            <a:r>
              <a:rPr lang="en-US" sz="1800" b="1" dirty="0"/>
              <a:t>robust, scalable, and reliable platform</a:t>
            </a:r>
            <a:r>
              <a:rPr lang="en-US" sz="1800" dirty="0"/>
              <a:t> that enhances the ticketing process by making it </a:t>
            </a:r>
            <a:r>
              <a:rPr lang="en-US" sz="1800" b="1" dirty="0"/>
              <a:t>simpler, faster, and more efficient</a:t>
            </a:r>
            <a:r>
              <a:rPr lang="en-US" sz="1800" dirty="0"/>
              <a:t>. This sets the stage for the detailed SRS document that follows.</a:t>
            </a:r>
          </a:p>
          <a:p>
            <a:endParaRPr lang="en-IN" sz="1800" dirty="0"/>
          </a:p>
        </p:txBody>
      </p:sp>
    </p:spTree>
    <p:extLst>
      <p:ext uri="{BB962C8B-B14F-4D97-AF65-F5344CB8AC3E}">
        <p14:creationId xmlns:p14="http://schemas.microsoft.com/office/powerpoint/2010/main" val="1307312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Project Objectives</a:t>
            </a:r>
            <a:endParaRPr b="1" dirty="0"/>
          </a:p>
        </p:txBody>
      </p:sp>
      <p:sp>
        <p:nvSpPr>
          <p:cNvPr id="3" name="Content Placeholder 2"/>
          <p:cNvSpPr>
            <a:spLocks noGrp="1"/>
          </p:cNvSpPr>
          <p:nvPr>
            <p:ph idx="1"/>
          </p:nvPr>
        </p:nvSpPr>
        <p:spPr/>
        <p:txBody>
          <a:bodyPr>
            <a:normAutofit/>
          </a:bodyPr>
          <a:lstStyle/>
          <a:p>
            <a:pPr marL="0" indent="0">
              <a:buNone/>
            </a:pPr>
            <a:r>
              <a:rPr lang="en-US" sz="1800" dirty="0"/>
              <a:t>The objectives of the Online Ticket Reservation System are:</a:t>
            </a:r>
          </a:p>
          <a:p>
            <a:endParaRPr lang="en-US" sz="1800" dirty="0"/>
          </a:p>
          <a:p>
            <a:r>
              <a:rPr lang="en-US" sz="1800" b="1" dirty="0"/>
              <a:t>Provide a User-Friendly Platform</a:t>
            </a:r>
            <a:r>
              <a:rPr lang="en-US" sz="1800" dirty="0"/>
              <a:t> – Ensure customers can easily search, book, and manage tickets through a simple and intuitive interface.</a:t>
            </a:r>
          </a:p>
          <a:p>
            <a:endParaRPr lang="en-US" sz="1800" dirty="0"/>
          </a:p>
          <a:p>
            <a:r>
              <a:rPr lang="en-US" sz="1800" b="1" dirty="0"/>
              <a:t>Enable Real-Time Booking</a:t>
            </a:r>
            <a:r>
              <a:rPr lang="en-US" sz="1800" dirty="0"/>
              <a:t> – Offer instant ticket availability, seat selection, and confirmation without delays.</a:t>
            </a:r>
          </a:p>
          <a:p>
            <a:endParaRPr lang="en-US" sz="1800" dirty="0"/>
          </a:p>
          <a:p>
            <a:r>
              <a:rPr lang="en-US" sz="1800" b="1" dirty="0"/>
              <a:t>Ensure Secure Transactions</a:t>
            </a:r>
            <a:r>
              <a:rPr lang="en-US" sz="1800" dirty="0"/>
              <a:t> – Integrate a reliable and secure payment gateway to handle online payments safely.</a:t>
            </a:r>
          </a:p>
          <a:p>
            <a:endParaRPr lang="en-US" sz="1800" dirty="0"/>
          </a:p>
          <a:p>
            <a:r>
              <a:rPr lang="en-US" sz="1800" b="1" dirty="0"/>
              <a:t>Support Ticket Management</a:t>
            </a:r>
            <a:r>
              <a:rPr lang="en-US" sz="1800" dirty="0"/>
              <a:t> – Allow users to cancel or modify reservations and receive timely refunds or updates.</a:t>
            </a:r>
          </a:p>
          <a:p>
            <a:pPr marL="0" indent="0">
              <a:buNone/>
            </a:pPr>
            <a:endParaRPr lang="en-US" sz="1800" dirty="0"/>
          </a:p>
          <a:p>
            <a:pPr>
              <a:lnSpc>
                <a:spcPct val="150000"/>
              </a:lnSpc>
            </a:pPr>
            <a:endParaRPr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21E7A-B770-4D4D-A2C4-BEA296E5A8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5EF52B-48E4-961B-2C60-B154884A08B8}"/>
              </a:ext>
            </a:extLst>
          </p:cNvPr>
          <p:cNvSpPr>
            <a:spLocks noGrp="1"/>
          </p:cNvSpPr>
          <p:nvPr>
            <p:ph idx="1"/>
          </p:nvPr>
        </p:nvSpPr>
        <p:spPr/>
        <p:txBody>
          <a:bodyPr>
            <a:normAutofit/>
          </a:bodyPr>
          <a:lstStyle/>
          <a:p>
            <a:endParaRPr lang="en-US" sz="1800" b="1" dirty="0"/>
          </a:p>
          <a:p>
            <a:r>
              <a:rPr lang="en-US" sz="1800" b="1" dirty="0"/>
              <a:t>Reduce Manual Workload</a:t>
            </a:r>
            <a:r>
              <a:rPr lang="en-US" sz="1800" dirty="0"/>
              <a:t> – Automate booking, scheduling, and reporting processes to minimize human effort and errors.</a:t>
            </a:r>
          </a:p>
          <a:p>
            <a:endParaRPr lang="en-US" sz="1800" b="1" dirty="0"/>
          </a:p>
          <a:p>
            <a:r>
              <a:rPr lang="en-US" sz="1800" b="1" dirty="0"/>
              <a:t>Improve Administrative Control</a:t>
            </a:r>
            <a:r>
              <a:rPr lang="en-US" sz="1800" dirty="0"/>
              <a:t> – Provide admins with tools to manage routes, schedules, pricing, and monitor sales and revenue.</a:t>
            </a:r>
          </a:p>
          <a:p>
            <a:endParaRPr lang="en-US" sz="1800" b="1" dirty="0"/>
          </a:p>
          <a:p>
            <a:r>
              <a:rPr lang="en-US" sz="1800" b="1" dirty="0"/>
              <a:t>Generate Reports</a:t>
            </a:r>
            <a:r>
              <a:rPr lang="en-US" sz="1800" dirty="0"/>
              <a:t> – Deliver statistical and financial reports for better decision-making and business insights.</a:t>
            </a:r>
          </a:p>
          <a:p>
            <a:endParaRPr lang="en-US" sz="1800" b="1" dirty="0"/>
          </a:p>
          <a:p>
            <a:r>
              <a:rPr lang="en-US" sz="1800" b="1" dirty="0"/>
              <a:t>Scalability &amp; Reliability</a:t>
            </a:r>
            <a:r>
              <a:rPr lang="en-US" sz="1800" dirty="0"/>
              <a:t> – Design the system to handle growing user demand efficiently and maintain high availability.</a:t>
            </a:r>
          </a:p>
          <a:p>
            <a:pPr>
              <a:lnSpc>
                <a:spcPct val="150000"/>
              </a:lnSpc>
            </a:pPr>
            <a:endParaRPr sz="1800" dirty="0"/>
          </a:p>
        </p:txBody>
      </p:sp>
    </p:spTree>
    <p:extLst>
      <p:ext uri="{BB962C8B-B14F-4D97-AF65-F5344CB8AC3E}">
        <p14:creationId xmlns:p14="http://schemas.microsoft.com/office/powerpoint/2010/main" val="41862475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DAD6FEB-AA9A-8146-FF83-B40E0BD67D76}"/>
              </a:ext>
            </a:extLst>
          </p:cNvPr>
          <p:cNvPicPr>
            <a:picLocks noGrp="1" noChangeAspect="1"/>
          </p:cNvPicPr>
          <p:nvPr>
            <p:ph idx="1"/>
          </p:nvPr>
        </p:nvPicPr>
        <p:blipFill>
          <a:blip r:embed="rId2"/>
          <a:stretch>
            <a:fillRect/>
          </a:stretch>
        </p:blipFill>
        <p:spPr>
          <a:xfrm>
            <a:off x="1340644" y="1752600"/>
            <a:ext cx="6429375" cy="3343275"/>
          </a:xfrm>
        </p:spPr>
      </p:pic>
      <p:sp>
        <p:nvSpPr>
          <p:cNvPr id="7" name="TextBox 6">
            <a:extLst>
              <a:ext uri="{FF2B5EF4-FFF2-40B4-BE49-F238E27FC236}">
                <a16:creationId xmlns:a16="http://schemas.microsoft.com/office/drawing/2014/main" id="{C3E5B234-CE21-7D20-3D2D-933741BD0B30}"/>
              </a:ext>
            </a:extLst>
          </p:cNvPr>
          <p:cNvSpPr txBox="1"/>
          <p:nvPr/>
        </p:nvSpPr>
        <p:spPr>
          <a:xfrm>
            <a:off x="3178629" y="5453743"/>
            <a:ext cx="4114800" cy="369332"/>
          </a:xfrm>
          <a:prstGeom prst="rect">
            <a:avLst/>
          </a:prstGeom>
          <a:noFill/>
        </p:spPr>
        <p:txBody>
          <a:bodyPr wrap="square" rtlCol="0">
            <a:spAutoFit/>
          </a:bodyPr>
          <a:lstStyle/>
          <a:p>
            <a:r>
              <a:rPr lang="en-US" dirty="0"/>
              <a:t>Technology Stack Diagram</a:t>
            </a:r>
            <a:endParaRPr lang="en-IN" dirty="0"/>
          </a:p>
        </p:txBody>
      </p:sp>
    </p:spTree>
    <p:extLst>
      <p:ext uri="{BB962C8B-B14F-4D97-AF65-F5344CB8AC3E}">
        <p14:creationId xmlns:p14="http://schemas.microsoft.com/office/powerpoint/2010/main" val="3771657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1C723-46D2-E4E7-1BB3-B27F65FC1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ABB74-7326-6CB7-1D53-D99344138305}"/>
              </a:ext>
            </a:extLst>
          </p:cNvPr>
          <p:cNvSpPr>
            <a:spLocks noGrp="1"/>
          </p:cNvSpPr>
          <p:nvPr>
            <p:ph type="title"/>
          </p:nvPr>
        </p:nvSpPr>
        <p:spPr/>
        <p:txBody>
          <a:bodyPr>
            <a:normAutofit/>
          </a:bodyPr>
          <a:lstStyle/>
          <a:p>
            <a:r>
              <a:rPr b="1" dirty="0"/>
              <a:t>Literature Review</a:t>
            </a:r>
          </a:p>
        </p:txBody>
      </p:sp>
      <p:sp>
        <p:nvSpPr>
          <p:cNvPr id="3" name="Content Placeholder 2">
            <a:extLst>
              <a:ext uri="{FF2B5EF4-FFF2-40B4-BE49-F238E27FC236}">
                <a16:creationId xmlns:a16="http://schemas.microsoft.com/office/drawing/2014/main" id="{5AE4C95E-A00A-643C-2AFB-E75298CD3A6C}"/>
              </a:ext>
            </a:extLst>
          </p:cNvPr>
          <p:cNvSpPr>
            <a:spLocks noGrp="1"/>
          </p:cNvSpPr>
          <p:nvPr>
            <p:ph idx="1"/>
          </p:nvPr>
        </p:nvSpPr>
        <p:spPr/>
        <p:txBody>
          <a:bodyPr/>
          <a:lstStyle/>
          <a:p>
            <a:pPr>
              <a:lnSpc>
                <a:spcPct val="150000"/>
              </a:lnSpc>
            </a:pPr>
            <a:r>
              <a:rPr lang="en-US" sz="1800" b="1" dirty="0"/>
              <a:t>Overview</a:t>
            </a:r>
          </a:p>
          <a:p>
            <a:pPr marL="0" indent="0">
              <a:lnSpc>
                <a:spcPct val="150000"/>
              </a:lnSpc>
              <a:buNone/>
            </a:pPr>
            <a:br>
              <a:rPr lang="en-US" sz="1800" dirty="0"/>
            </a:br>
            <a:r>
              <a:rPr lang="en-US" sz="1800" dirty="0"/>
              <a:t>Online ticket reservation systems have evolved from simple catalogue-and-book interfaces to complex, distributed platforms that handle high concurrency, secure payments, dynamic pricing, and multi-channel access (web + mobile). The literature spans applied engineering (system architectures, database design, caching, and load balancing), human-computer interaction (usability and accessibility), and security (payment protection, data privacy, fraud detection). Research and industry reports consistently emphasize transaction consistency, low-latency seat allocation, and fault tolerance as the core technical challenges..</a:t>
            </a:r>
            <a:endParaRPr sz="1800" dirty="0"/>
          </a:p>
        </p:txBody>
      </p:sp>
    </p:spTree>
    <p:extLst>
      <p:ext uri="{BB962C8B-B14F-4D97-AF65-F5344CB8AC3E}">
        <p14:creationId xmlns:p14="http://schemas.microsoft.com/office/powerpoint/2010/main" val="8881899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00BA0-1EFB-CCC0-E3BE-441851EAF9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210BDD-0CD8-7F85-5F0D-C68DD57FB7A6}"/>
              </a:ext>
            </a:extLst>
          </p:cNvPr>
          <p:cNvSpPr>
            <a:spLocks noGrp="1"/>
          </p:cNvSpPr>
          <p:nvPr>
            <p:ph idx="1"/>
          </p:nvPr>
        </p:nvSpPr>
        <p:spPr>
          <a:xfrm>
            <a:off x="292608" y="365760"/>
            <a:ext cx="8540496" cy="6254496"/>
          </a:xfrm>
        </p:spPr>
        <p:txBody>
          <a:bodyPr>
            <a:normAutofit/>
          </a:bodyPr>
          <a:lstStyle/>
          <a:p>
            <a:endParaRPr lang="en-US" sz="1800" b="1" dirty="0"/>
          </a:p>
          <a:p>
            <a:r>
              <a:rPr lang="en-US" sz="1800" b="1" dirty="0"/>
              <a:t>Key themes from prior work</a:t>
            </a:r>
          </a:p>
          <a:p>
            <a:endParaRPr lang="en-US" sz="1800" dirty="0"/>
          </a:p>
          <a:p>
            <a:r>
              <a:rPr lang="en-US" sz="1800" b="1" dirty="0"/>
              <a:t>Concurrency &amp; Consistency:</a:t>
            </a:r>
            <a:r>
              <a:rPr lang="en-US" sz="1800" dirty="0"/>
              <a:t> Many studies focus on algorithms and patterns to prevent double-booking (optimistic vs pessimistic locking, seat-hold strategies, transactional queues, and distributed locks). Solutions commonly combine short “holds” with background cleanup and eventual consistency for high throughput systems.</a:t>
            </a:r>
          </a:p>
          <a:p>
            <a:endParaRPr lang="en-US" sz="1800" dirty="0"/>
          </a:p>
          <a:p>
            <a:r>
              <a:rPr lang="en-US" sz="1800" b="1" dirty="0"/>
              <a:t>Scalability &amp; Performance:</a:t>
            </a:r>
            <a:r>
              <a:rPr lang="en-US" sz="1800" dirty="0"/>
              <a:t> Architectures using horizontal scaling, stateless application servers, in-memory caches (Redis/Memcached), and database sharding are frequent recommendations. Message queues and worker pools are used to decouple booking flows (reserve → pay → confirm) to improve resilience.</a:t>
            </a:r>
          </a:p>
          <a:p>
            <a:endParaRPr lang="en-US" sz="1800" dirty="0"/>
          </a:p>
          <a:p>
            <a:r>
              <a:rPr lang="en-US" sz="1800" b="1" dirty="0"/>
              <a:t>Payment &amp; Security:</a:t>
            </a:r>
            <a:r>
              <a:rPr lang="en-US" sz="1800" dirty="0"/>
              <a:t> Research stresses PCI-DSS compliance, tokenization of card data, secure integration with third-party gateways, and layered defenses against replay or tampering attacks. Authentication best practices (multi-factor, session management, rate limiting) and GDPR-style privacy management are also highlighted.</a:t>
            </a:r>
          </a:p>
          <a:p>
            <a:pPr marL="0" indent="0">
              <a:lnSpc>
                <a:spcPct val="150000"/>
              </a:lnSpc>
              <a:buNone/>
            </a:pPr>
            <a:br>
              <a:rPr lang="en-US" sz="1800" dirty="0"/>
            </a:br>
            <a:endParaRPr sz="1800" dirty="0"/>
          </a:p>
        </p:txBody>
      </p:sp>
    </p:spTree>
    <p:extLst>
      <p:ext uri="{BB962C8B-B14F-4D97-AF65-F5344CB8AC3E}">
        <p14:creationId xmlns:p14="http://schemas.microsoft.com/office/powerpoint/2010/main" val="36482942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728FC-8CB6-A16C-0988-CE46CCF32C1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DBFA97-9C81-D412-FABD-483D65363F35}"/>
              </a:ext>
            </a:extLst>
          </p:cNvPr>
          <p:cNvSpPr>
            <a:spLocks noGrp="1"/>
          </p:cNvSpPr>
          <p:nvPr>
            <p:ph idx="1"/>
          </p:nvPr>
        </p:nvSpPr>
        <p:spPr>
          <a:xfrm>
            <a:off x="292608" y="365760"/>
            <a:ext cx="8540496" cy="6254496"/>
          </a:xfrm>
        </p:spPr>
        <p:txBody>
          <a:bodyPr>
            <a:normAutofit/>
          </a:bodyPr>
          <a:lstStyle/>
          <a:p>
            <a:endParaRPr lang="en-US" sz="1800" b="1" dirty="0"/>
          </a:p>
          <a:p>
            <a:endParaRPr lang="en-US" sz="1800" dirty="0"/>
          </a:p>
          <a:p>
            <a:pPr>
              <a:lnSpc>
                <a:spcPct val="150000"/>
              </a:lnSpc>
            </a:pPr>
            <a:r>
              <a:rPr lang="en-US" sz="1800" b="1" dirty="0"/>
              <a:t>Usability &amp; UX:</a:t>
            </a:r>
            <a:r>
              <a:rPr lang="en-US" sz="1800" dirty="0"/>
              <a:t> Papers comparing manual vs. online booking emphasize simple flows, clear seat/price visualization, and reduced cognitive load (progressive disclosure, confirmations, and error recovery). Accessibility (WCAG), localization, and mobile UX are recurring concerns for adoption.</a:t>
            </a:r>
            <a:br>
              <a:rPr lang="en-US" sz="1800" dirty="0"/>
            </a:br>
            <a:endParaRPr lang="en-US" sz="1800" dirty="0"/>
          </a:p>
          <a:p>
            <a:pPr>
              <a:lnSpc>
                <a:spcPct val="150000"/>
              </a:lnSpc>
            </a:pPr>
            <a:r>
              <a:rPr lang="en-US" sz="1800" b="1" dirty="0"/>
              <a:t>Business Features &amp; Data Analytics:</a:t>
            </a:r>
            <a:r>
              <a:rPr lang="en-US" sz="1800" dirty="0"/>
              <a:t> Work on dynamic pricing, recommendation engines, and demand forecasting shows how analytics can increase revenue. Admin modules for reporting, audit trails, and anomaly detection are advised for operational control</a:t>
            </a:r>
            <a:endParaRPr sz="1800" dirty="0"/>
          </a:p>
        </p:txBody>
      </p:sp>
    </p:spTree>
    <p:extLst>
      <p:ext uri="{BB962C8B-B14F-4D97-AF65-F5344CB8AC3E}">
        <p14:creationId xmlns:p14="http://schemas.microsoft.com/office/powerpoint/2010/main" val="1338559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51907-447C-B9DE-B715-B3DD4DE560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1454D4-D930-08CA-16AF-50F3128B63AD}"/>
              </a:ext>
            </a:extLst>
          </p:cNvPr>
          <p:cNvSpPr>
            <a:spLocks noGrp="1"/>
          </p:cNvSpPr>
          <p:nvPr>
            <p:ph idx="1"/>
          </p:nvPr>
        </p:nvSpPr>
        <p:spPr>
          <a:xfrm>
            <a:off x="292608" y="365760"/>
            <a:ext cx="8540496" cy="6254496"/>
          </a:xfrm>
        </p:spPr>
        <p:txBody>
          <a:bodyPr>
            <a:normAutofit lnSpcReduction="10000"/>
          </a:bodyPr>
          <a:lstStyle/>
          <a:p>
            <a:pPr marL="0" indent="0">
              <a:lnSpc>
                <a:spcPct val="150000"/>
              </a:lnSpc>
              <a:buNone/>
            </a:pPr>
            <a:r>
              <a:rPr lang="en-US" sz="1800" b="1" dirty="0"/>
              <a:t>Comparative systems &amp; case studies:-</a:t>
            </a:r>
          </a:p>
          <a:p>
            <a:pPr marL="0" indent="0">
              <a:lnSpc>
                <a:spcPct val="150000"/>
              </a:lnSpc>
              <a:buNone/>
            </a:pPr>
            <a:r>
              <a:rPr lang="en-US" sz="1800" dirty="0"/>
              <a:t>Existing commercial and open-source systems illustrate a range of tradeoffs: systems focused on high volume (airlines, large events) favor eventual consistency plus robust reconciliation; smaller-scale ticketing emphasizes simplicity and cost-effectiveness. Case studies often report that poor seat-locking logic or slow payment integration are the most common causes of user dissatisfaction and revenue loss.</a:t>
            </a:r>
          </a:p>
          <a:p>
            <a:pPr marL="0" indent="0">
              <a:lnSpc>
                <a:spcPct val="150000"/>
              </a:lnSpc>
              <a:buNone/>
            </a:pPr>
            <a:endParaRPr lang="en-US" sz="1800" dirty="0"/>
          </a:p>
          <a:p>
            <a:pPr marL="0" indent="0">
              <a:buNone/>
            </a:pPr>
            <a:r>
              <a:rPr lang="en-US" sz="1800" b="1" dirty="0"/>
              <a:t>Identified gaps &amp; opportunities</a:t>
            </a:r>
            <a:endParaRPr lang="en-US" sz="1800" dirty="0"/>
          </a:p>
          <a:p>
            <a:r>
              <a:rPr lang="en-US" sz="1800" dirty="0"/>
              <a:t>Many implementations compromise strict consistency for performance without a clear reconciliation strategy—this creates edge-case failures (duplicate allocations, ghost seats).</a:t>
            </a:r>
          </a:p>
          <a:p>
            <a:r>
              <a:rPr lang="en-US" sz="1800" dirty="0"/>
              <a:t>Usability research shows a gap between academic UX recommendations and real deployments, especially around failure-handling (payment timeouts, partial confirmations).</a:t>
            </a:r>
          </a:p>
          <a:p>
            <a:r>
              <a:rPr lang="en-US" sz="1800" dirty="0"/>
              <a:t>Limited literature addresses modular, low-cost architectures suitable for small-to-medium operators that still achieve high reliability.</a:t>
            </a:r>
            <a:br>
              <a:rPr lang="en-US" sz="1800" dirty="0"/>
            </a:br>
            <a:r>
              <a:rPr lang="en-US" sz="1800" dirty="0"/>
              <a:t>These gaps motivate a design that provides robust seat management, clear user feedback on transaction state, and modular components that can scale as demand grows.</a:t>
            </a:r>
          </a:p>
          <a:p>
            <a:pPr marL="0" indent="0">
              <a:lnSpc>
                <a:spcPct val="150000"/>
              </a:lnSpc>
              <a:buNone/>
            </a:pPr>
            <a:endParaRPr sz="1800" dirty="0"/>
          </a:p>
        </p:txBody>
      </p:sp>
    </p:spTree>
    <p:extLst>
      <p:ext uri="{BB962C8B-B14F-4D97-AF65-F5344CB8AC3E}">
        <p14:creationId xmlns:p14="http://schemas.microsoft.com/office/powerpoint/2010/main" val="4643570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BD0EF-408A-0A3F-272A-DD1EFA4450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0194C-AF81-5DD2-5D05-6C5B312D9163}"/>
              </a:ext>
            </a:extLst>
          </p:cNvPr>
          <p:cNvSpPr>
            <a:spLocks noGrp="1"/>
          </p:cNvSpPr>
          <p:nvPr>
            <p:ph idx="1"/>
          </p:nvPr>
        </p:nvSpPr>
        <p:spPr>
          <a:xfrm>
            <a:off x="219456" y="795528"/>
            <a:ext cx="8613648" cy="5824728"/>
          </a:xfrm>
        </p:spPr>
        <p:txBody>
          <a:bodyPr>
            <a:normAutofit/>
          </a:bodyPr>
          <a:lstStyle/>
          <a:p>
            <a:pPr marL="0" indent="0">
              <a:lnSpc>
                <a:spcPct val="150000"/>
              </a:lnSpc>
              <a:buNone/>
            </a:pPr>
            <a:r>
              <a:rPr lang="en-US" sz="1800" b="1" dirty="0"/>
              <a:t>Relevance to this project</a:t>
            </a:r>
          </a:p>
          <a:p>
            <a:pPr marL="0" indent="0">
              <a:lnSpc>
                <a:spcPct val="150000"/>
              </a:lnSpc>
              <a:buNone/>
            </a:pPr>
            <a:br>
              <a:rPr lang="en-US" sz="1800" dirty="0"/>
            </a:br>
            <a:r>
              <a:rPr lang="en-US" sz="1800" dirty="0"/>
              <a:t>This project will adopt proven patterns: short-duration seat holds, atomic confirmation after payment, stateless front-end servers, caching for read-heavy queries, and secure payment gateway integration. It will also prioritize clear UX for error and timeout cases, and include admin reporting to aid reconciliation—directly addressing several gaps identified in the literature.</a:t>
            </a:r>
          </a:p>
          <a:p>
            <a:pPr marL="0" indent="0">
              <a:lnSpc>
                <a:spcPct val="150000"/>
              </a:lnSpc>
              <a:buNone/>
            </a:pPr>
            <a:endParaRPr sz="1800" dirty="0"/>
          </a:p>
        </p:txBody>
      </p:sp>
    </p:spTree>
    <p:extLst>
      <p:ext uri="{BB962C8B-B14F-4D97-AF65-F5344CB8AC3E}">
        <p14:creationId xmlns:p14="http://schemas.microsoft.com/office/powerpoint/2010/main" val="39285016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B76878-FC22-6906-BBCE-33256A47DF42}"/>
              </a:ext>
            </a:extLst>
          </p:cNvPr>
          <p:cNvPicPr>
            <a:picLocks noGrp="1" noChangeAspect="1"/>
          </p:cNvPicPr>
          <p:nvPr>
            <p:ph idx="1"/>
          </p:nvPr>
        </p:nvPicPr>
        <p:blipFill>
          <a:blip r:embed="rId2"/>
          <a:stretch>
            <a:fillRect/>
          </a:stretch>
        </p:blipFill>
        <p:spPr>
          <a:xfrm>
            <a:off x="1918832" y="1198843"/>
            <a:ext cx="5306335" cy="4774064"/>
          </a:xfrm>
        </p:spPr>
      </p:pic>
      <p:sp>
        <p:nvSpPr>
          <p:cNvPr id="7" name="TextBox 6">
            <a:extLst>
              <a:ext uri="{FF2B5EF4-FFF2-40B4-BE49-F238E27FC236}">
                <a16:creationId xmlns:a16="http://schemas.microsoft.com/office/drawing/2014/main" id="{02765122-47E0-6331-6279-31BFE6562EB3}"/>
              </a:ext>
            </a:extLst>
          </p:cNvPr>
          <p:cNvSpPr txBox="1"/>
          <p:nvPr/>
        </p:nvSpPr>
        <p:spPr>
          <a:xfrm>
            <a:off x="3581399" y="5972907"/>
            <a:ext cx="4735287" cy="369332"/>
          </a:xfrm>
          <a:prstGeom prst="rect">
            <a:avLst/>
          </a:prstGeom>
          <a:noFill/>
        </p:spPr>
        <p:txBody>
          <a:bodyPr wrap="square" rtlCol="0">
            <a:spAutoFit/>
          </a:bodyPr>
          <a:lstStyle/>
          <a:p>
            <a:r>
              <a:rPr lang="en-US" dirty="0"/>
              <a:t>Use Case Diagram </a:t>
            </a:r>
            <a:endParaRPr lang="en-IN" dirty="0"/>
          </a:p>
        </p:txBody>
      </p:sp>
      <p:sp>
        <p:nvSpPr>
          <p:cNvPr id="4" name="TextBox 3">
            <a:extLst>
              <a:ext uri="{FF2B5EF4-FFF2-40B4-BE49-F238E27FC236}">
                <a16:creationId xmlns:a16="http://schemas.microsoft.com/office/drawing/2014/main" id="{13BA26DD-A147-9A07-50CF-FAEA533287BE}"/>
              </a:ext>
            </a:extLst>
          </p:cNvPr>
          <p:cNvSpPr txBox="1"/>
          <p:nvPr/>
        </p:nvSpPr>
        <p:spPr>
          <a:xfrm>
            <a:off x="1817914" y="587829"/>
            <a:ext cx="5407253" cy="369332"/>
          </a:xfrm>
          <a:prstGeom prst="rect">
            <a:avLst/>
          </a:prstGeom>
          <a:noFill/>
        </p:spPr>
        <p:txBody>
          <a:bodyPr wrap="square" rtlCol="0">
            <a:spAutoFit/>
          </a:bodyPr>
          <a:lstStyle/>
          <a:p>
            <a:r>
              <a:rPr lang="en-US" dirty="0"/>
              <a:t>Example - online railway ticket booking system </a:t>
            </a:r>
            <a:endParaRPr lang="en-IN" dirty="0"/>
          </a:p>
        </p:txBody>
      </p:sp>
    </p:spTree>
    <p:extLst>
      <p:ext uri="{BB962C8B-B14F-4D97-AF65-F5344CB8AC3E}">
        <p14:creationId xmlns:p14="http://schemas.microsoft.com/office/powerpoint/2010/main" val="18785210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Problem Statement</a:t>
            </a:r>
          </a:p>
        </p:txBody>
      </p:sp>
      <p:sp>
        <p:nvSpPr>
          <p:cNvPr id="3" name="Content Placeholder 2"/>
          <p:cNvSpPr>
            <a:spLocks noGrp="1"/>
          </p:cNvSpPr>
          <p:nvPr>
            <p:ph idx="1"/>
          </p:nvPr>
        </p:nvSpPr>
        <p:spPr/>
        <p:txBody>
          <a:bodyPr/>
          <a:lstStyle/>
          <a:p>
            <a:r>
              <a:rPr lang="en-US" sz="1800" dirty="0"/>
              <a:t>In the traditional ticket reservation process, customers are required to visit physical counters or depend on third-party agents, which is </a:t>
            </a:r>
            <a:r>
              <a:rPr lang="en-US" sz="1800" b="1" dirty="0"/>
              <a:t>time-consuming, inefficient, and prone to errors</a:t>
            </a:r>
            <a:r>
              <a:rPr lang="en-US" sz="1800" dirty="0"/>
              <a:t>. Manual booking systems often lead to issues such as duplicate reservations, lack of transparency in seat availability, delayed confirmations, and difficulties in cancellations or refunds.</a:t>
            </a:r>
          </a:p>
          <a:p>
            <a:endParaRPr lang="en-US" sz="1800" dirty="0"/>
          </a:p>
          <a:p>
            <a:r>
              <a:rPr lang="en-US" sz="1800" dirty="0"/>
              <a:t>With the growing demand for </a:t>
            </a:r>
            <a:r>
              <a:rPr lang="en-US" sz="1800" b="1" dirty="0"/>
              <a:t>fast, reliable, and user-friendly services</a:t>
            </a:r>
            <a:r>
              <a:rPr lang="en-US" sz="1800" dirty="0"/>
              <a:t>, the absence of a centralized and automated platform creates inconvenience for customers and increases the workload on administration. Additionally, managing large volumes of reservations manually results in </a:t>
            </a:r>
            <a:r>
              <a:rPr lang="en-US" sz="1800" b="1" dirty="0"/>
              <a:t>poor scalability, revenue loss, and reduced customer satisfaction</a:t>
            </a:r>
            <a:r>
              <a:rPr lang="en-US" sz="1800" dirty="0"/>
              <a:t>.</a:t>
            </a:r>
          </a:p>
          <a:p>
            <a:endParaRPr lang="en-US" sz="1800" dirty="0"/>
          </a:p>
          <a:p>
            <a:r>
              <a:rPr lang="en-US" sz="1800" dirty="0"/>
              <a:t>Therefore, there is a need for an </a:t>
            </a:r>
            <a:r>
              <a:rPr lang="en-US" sz="1800" b="1" dirty="0"/>
              <a:t>Online Ticket Reservation System</a:t>
            </a:r>
            <a:r>
              <a:rPr lang="en-US" sz="1800" dirty="0"/>
              <a:t> that can automate the booking process, provide </a:t>
            </a:r>
            <a:r>
              <a:rPr lang="en-US" sz="1800" b="1" dirty="0"/>
              <a:t>real-time availability and secure payment options</a:t>
            </a:r>
            <a:r>
              <a:rPr lang="en-US" sz="1800" dirty="0"/>
              <a:t>, and improve overall efficiency for both customers and administrators</a:t>
            </a:r>
          </a:p>
          <a:p>
            <a:endParaRPr lang="en-IN"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Methodology (Step-by-Step)</a:t>
            </a:r>
          </a:p>
        </p:txBody>
      </p:sp>
      <p:sp>
        <p:nvSpPr>
          <p:cNvPr id="3" name="Content Placeholder 2"/>
          <p:cNvSpPr>
            <a:spLocks noGrp="1"/>
          </p:cNvSpPr>
          <p:nvPr>
            <p:ph idx="1"/>
          </p:nvPr>
        </p:nvSpPr>
        <p:spPr/>
        <p:txBody>
          <a:bodyPr>
            <a:normAutofit/>
          </a:bodyPr>
          <a:lstStyle/>
          <a:p>
            <a:pPr marL="0" indent="0">
              <a:buNone/>
            </a:pPr>
            <a:r>
              <a:rPr lang="en-US" sz="1800" dirty="0"/>
              <a:t>The development of the Online Ticket Reservation System follows a structured methodology to ensure efficiency, accuracy, and scalability. The process can be divided into the following stages:</a:t>
            </a:r>
          </a:p>
          <a:p>
            <a:endParaRPr lang="en-US" sz="1800" dirty="0"/>
          </a:p>
          <a:p>
            <a:pPr marL="0" indent="0">
              <a:buNone/>
            </a:pPr>
            <a:r>
              <a:rPr lang="en-US" sz="1800" b="1" dirty="0"/>
              <a:t>1. Requirement Analysis</a:t>
            </a:r>
          </a:p>
          <a:p>
            <a:r>
              <a:rPr lang="en-US" sz="1800" dirty="0"/>
              <a:t>Gather functional and non-functional requirements from stakeholders.</a:t>
            </a:r>
          </a:p>
          <a:p>
            <a:r>
              <a:rPr lang="en-US" sz="1800" dirty="0"/>
              <a:t>Identify user needs: booking, cancellation, payment, and administration.</a:t>
            </a:r>
          </a:p>
          <a:p>
            <a:r>
              <a:rPr lang="en-US" sz="1800" dirty="0"/>
              <a:t>Define constraints such as security, performance, and scalability.</a:t>
            </a:r>
          </a:p>
          <a:p>
            <a:endParaRPr lang="en-US" sz="1800" dirty="0"/>
          </a:p>
          <a:p>
            <a:pPr marL="0" indent="0">
              <a:buNone/>
            </a:pPr>
            <a:r>
              <a:rPr lang="en-US" sz="1800" b="1" dirty="0"/>
              <a:t>2. System Design</a:t>
            </a:r>
          </a:p>
          <a:p>
            <a:r>
              <a:rPr lang="en-US" sz="1800" dirty="0"/>
              <a:t>Create use case diagrams, data flow diagrams, and database schema.</a:t>
            </a:r>
          </a:p>
          <a:p>
            <a:r>
              <a:rPr lang="en-US" sz="1800" dirty="0"/>
              <a:t>Define architecture (client–server, centralized database, payment integration).</a:t>
            </a:r>
          </a:p>
          <a:p>
            <a:r>
              <a:rPr lang="en-US" sz="1800" dirty="0"/>
              <a:t>Design user-friendly interfaces for customers and admin modules.</a:t>
            </a:r>
          </a:p>
          <a:p>
            <a:pPr>
              <a:lnSpc>
                <a:spcPct val="170000"/>
              </a:lnSpc>
            </a:pPr>
            <a:endParaRPr lang="en-IN"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8B756-FBC4-866B-D921-66243382A5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07A18E-C7AD-0EDF-F21A-22D4D6C5EB4D}"/>
              </a:ext>
            </a:extLst>
          </p:cNvPr>
          <p:cNvSpPr>
            <a:spLocks noGrp="1"/>
          </p:cNvSpPr>
          <p:nvPr>
            <p:ph idx="1"/>
          </p:nvPr>
        </p:nvSpPr>
        <p:spPr>
          <a:xfrm>
            <a:off x="457200" y="329184"/>
            <a:ext cx="8412480" cy="6035040"/>
          </a:xfrm>
        </p:spPr>
        <p:txBody>
          <a:bodyPr>
            <a:normAutofit/>
          </a:bodyPr>
          <a:lstStyle/>
          <a:p>
            <a:pPr marL="0" indent="0">
              <a:buNone/>
            </a:pPr>
            <a:r>
              <a:rPr lang="en-US" sz="1800" b="1" dirty="0"/>
              <a:t>3. Implementation</a:t>
            </a:r>
          </a:p>
          <a:p>
            <a:r>
              <a:rPr lang="en-US" sz="1800" dirty="0"/>
              <a:t>Develop front-end using suitable technologies (e.g., Java, HTML/CSS, Swing).</a:t>
            </a:r>
          </a:p>
          <a:p>
            <a:r>
              <a:rPr lang="en-US" sz="1800" dirty="0"/>
              <a:t>Implement back-end with database support (MySQL/Oracle) for seat allocation and transaction management.</a:t>
            </a:r>
          </a:p>
          <a:p>
            <a:r>
              <a:rPr lang="en-US" sz="1800" dirty="0"/>
              <a:t>Integrate secure payment gateway and authentication modules.</a:t>
            </a:r>
          </a:p>
          <a:p>
            <a:endParaRPr lang="en-US" sz="1800" dirty="0"/>
          </a:p>
          <a:p>
            <a:pPr marL="0" indent="0">
              <a:buNone/>
            </a:pPr>
            <a:r>
              <a:rPr lang="en-US" sz="1800" b="1" dirty="0"/>
              <a:t>4. Testing</a:t>
            </a:r>
          </a:p>
          <a:p>
            <a:r>
              <a:rPr lang="en-US" sz="1800" dirty="0"/>
              <a:t>Conduct unit testing for individual modules.</a:t>
            </a:r>
          </a:p>
          <a:p>
            <a:r>
              <a:rPr lang="en-US" sz="1800" dirty="0"/>
              <a:t>Perform integration testing for booking → payment → confirmation flow.</a:t>
            </a:r>
          </a:p>
          <a:p>
            <a:r>
              <a:rPr lang="en-US" sz="1800" dirty="0"/>
              <a:t>Carry out user acceptance testing (UAT) to ensure system reliability.</a:t>
            </a:r>
          </a:p>
          <a:p>
            <a:endParaRPr lang="en-US" sz="1800" dirty="0"/>
          </a:p>
          <a:p>
            <a:pPr marL="0" indent="0">
              <a:buNone/>
            </a:pPr>
            <a:r>
              <a:rPr lang="en-US" sz="1800" b="1" dirty="0"/>
              <a:t>5. Deployment &amp; Maintenance</a:t>
            </a:r>
          </a:p>
          <a:p>
            <a:r>
              <a:rPr lang="en-US" sz="1800" dirty="0"/>
              <a:t>Deploy the system on a secure server or cloud platform.</a:t>
            </a:r>
          </a:p>
          <a:p>
            <a:r>
              <a:rPr lang="en-US" sz="1800" dirty="0"/>
              <a:t>Provide training and documentation for end-users.</a:t>
            </a:r>
          </a:p>
          <a:p>
            <a:r>
              <a:rPr lang="en-US" sz="1800" dirty="0"/>
              <a:t>Continuously monitor, update, and maintain the system for improvements.</a:t>
            </a:r>
          </a:p>
          <a:p>
            <a:pPr marL="0" indent="0">
              <a:buNone/>
            </a:pPr>
            <a:endParaRPr lang="en-US" sz="1800" b="1" dirty="0"/>
          </a:p>
          <a:p>
            <a:pPr>
              <a:lnSpc>
                <a:spcPct val="170000"/>
              </a:lnSpc>
            </a:pPr>
            <a:endParaRPr lang="en-IN" sz="1800" dirty="0"/>
          </a:p>
        </p:txBody>
      </p:sp>
    </p:spTree>
    <p:extLst>
      <p:ext uri="{BB962C8B-B14F-4D97-AF65-F5344CB8AC3E}">
        <p14:creationId xmlns:p14="http://schemas.microsoft.com/office/powerpoint/2010/main" val="1063836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6B01C7-7197-EE40-A3A0-70D839CDD62B}"/>
              </a:ext>
            </a:extLst>
          </p:cNvPr>
          <p:cNvPicPr>
            <a:picLocks noGrp="1" noChangeAspect="1"/>
          </p:cNvPicPr>
          <p:nvPr>
            <p:ph idx="1"/>
          </p:nvPr>
        </p:nvPicPr>
        <p:blipFill>
          <a:blip r:embed="rId2"/>
          <a:stretch>
            <a:fillRect/>
          </a:stretch>
        </p:blipFill>
        <p:spPr>
          <a:xfrm>
            <a:off x="1839686" y="1266279"/>
            <a:ext cx="5817967" cy="4857390"/>
          </a:xfrm>
        </p:spPr>
      </p:pic>
      <p:sp>
        <p:nvSpPr>
          <p:cNvPr id="7" name="TextBox 6">
            <a:extLst>
              <a:ext uri="{FF2B5EF4-FFF2-40B4-BE49-F238E27FC236}">
                <a16:creationId xmlns:a16="http://schemas.microsoft.com/office/drawing/2014/main" id="{CCDEA43A-643D-CDAC-F895-FD9C892941EC}"/>
              </a:ext>
            </a:extLst>
          </p:cNvPr>
          <p:cNvSpPr txBox="1"/>
          <p:nvPr/>
        </p:nvSpPr>
        <p:spPr>
          <a:xfrm>
            <a:off x="3679371" y="6259286"/>
            <a:ext cx="2242458" cy="369332"/>
          </a:xfrm>
          <a:prstGeom prst="rect">
            <a:avLst/>
          </a:prstGeom>
          <a:noFill/>
        </p:spPr>
        <p:txBody>
          <a:bodyPr wrap="square" rtlCol="0">
            <a:spAutoFit/>
          </a:bodyPr>
          <a:lstStyle/>
          <a:p>
            <a:r>
              <a:rPr lang="en-US" dirty="0"/>
              <a:t>Data Flow Diagram</a:t>
            </a:r>
            <a:endParaRPr lang="en-IN" dirty="0"/>
          </a:p>
        </p:txBody>
      </p:sp>
      <p:sp>
        <p:nvSpPr>
          <p:cNvPr id="3" name="TextBox 2">
            <a:extLst>
              <a:ext uri="{FF2B5EF4-FFF2-40B4-BE49-F238E27FC236}">
                <a16:creationId xmlns:a16="http://schemas.microsoft.com/office/drawing/2014/main" id="{C7D30B44-4E35-EEE0-E915-1055498E1AD9}"/>
              </a:ext>
            </a:extLst>
          </p:cNvPr>
          <p:cNvSpPr txBox="1"/>
          <p:nvPr/>
        </p:nvSpPr>
        <p:spPr>
          <a:xfrm>
            <a:off x="1730829" y="576943"/>
            <a:ext cx="5817967" cy="369332"/>
          </a:xfrm>
          <a:prstGeom prst="rect">
            <a:avLst/>
          </a:prstGeom>
          <a:noFill/>
        </p:spPr>
        <p:txBody>
          <a:bodyPr wrap="square" rtlCol="0">
            <a:spAutoFit/>
          </a:bodyPr>
          <a:lstStyle/>
          <a:p>
            <a:r>
              <a:rPr lang="en-US" dirty="0"/>
              <a:t>Example –  Online Railway Ticket Reservation System</a:t>
            </a:r>
            <a:endParaRPr lang="en-IN" dirty="0"/>
          </a:p>
        </p:txBody>
      </p:sp>
    </p:spTree>
    <p:extLst>
      <p:ext uri="{BB962C8B-B14F-4D97-AF65-F5344CB8AC3E}">
        <p14:creationId xmlns:p14="http://schemas.microsoft.com/office/powerpoint/2010/main" val="3603114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Proposed Method</a:t>
            </a:r>
          </a:p>
        </p:txBody>
      </p:sp>
      <p:sp>
        <p:nvSpPr>
          <p:cNvPr id="3" name="Content Placeholder 2"/>
          <p:cNvSpPr>
            <a:spLocks noGrp="1"/>
          </p:cNvSpPr>
          <p:nvPr>
            <p:ph idx="1"/>
          </p:nvPr>
        </p:nvSpPr>
        <p:spPr>
          <a:xfrm>
            <a:off x="457200" y="1225296"/>
            <a:ext cx="8229600" cy="4900867"/>
          </a:xfrm>
        </p:spPr>
        <p:txBody>
          <a:bodyPr>
            <a:normAutofit/>
          </a:bodyPr>
          <a:lstStyle/>
          <a:p>
            <a:pPr marL="0" indent="0">
              <a:buNone/>
            </a:pPr>
            <a:endParaRPr lang="en-US" sz="1800" dirty="0"/>
          </a:p>
          <a:p>
            <a:pPr marL="0" indent="0">
              <a:buNone/>
            </a:pPr>
            <a:r>
              <a:rPr lang="en-US" sz="1800" dirty="0"/>
              <a:t>The proposed Online Ticket Reservation System provides a </a:t>
            </a:r>
            <a:r>
              <a:rPr lang="en-US" sz="1800" b="1" dirty="0"/>
              <a:t>centralized, automated, and user-friendly platform</a:t>
            </a:r>
            <a:r>
              <a:rPr lang="en-US" sz="1800" dirty="0"/>
              <a:t> to overcome the limitations of manual booking. The method focuses on real-time ticket availability, secure payments, and efficient management.</a:t>
            </a:r>
          </a:p>
          <a:p>
            <a:endParaRPr lang="en-US" sz="1800" dirty="0"/>
          </a:p>
          <a:p>
            <a:r>
              <a:rPr lang="en-US" sz="1800" b="1" dirty="0"/>
              <a:t>Key Features of the Proposed Method</a:t>
            </a:r>
          </a:p>
          <a:p>
            <a:endParaRPr lang="en-US" sz="1800" b="1" dirty="0"/>
          </a:p>
          <a:p>
            <a:r>
              <a:rPr lang="en-US" sz="1800" b="1" dirty="0"/>
              <a:t>Centralized Database:</a:t>
            </a:r>
            <a:r>
              <a:rPr lang="en-US" sz="1800" dirty="0"/>
              <a:t> All booking, cancellation, and schedule data stored in a unified system to avoid duplication and inconsistency.</a:t>
            </a:r>
          </a:p>
          <a:p>
            <a:r>
              <a:rPr lang="en-US" sz="1800" b="1" dirty="0"/>
              <a:t>Real-Time Availability:</a:t>
            </a:r>
            <a:r>
              <a:rPr lang="en-US" sz="1800" dirty="0"/>
              <a:t> Customers can instantly view and select available seats.</a:t>
            </a:r>
          </a:p>
          <a:p>
            <a:r>
              <a:rPr lang="en-US" sz="1800" b="1" dirty="0"/>
              <a:t>Automated Booking Workflow:</a:t>
            </a:r>
            <a:r>
              <a:rPr lang="en-US" sz="1800" dirty="0"/>
              <a:t> Search → Select Ticket → Payment → Confirmation → E-Ticket generation.</a:t>
            </a:r>
          </a:p>
          <a:p>
            <a:r>
              <a:rPr lang="en-US" sz="1800" b="1" dirty="0"/>
              <a:t>Secure Transactions:</a:t>
            </a:r>
            <a:r>
              <a:rPr lang="en-US" sz="1800" dirty="0"/>
              <a:t> Integration of a payment gateway with encryption to ensure safe online payments.</a:t>
            </a:r>
          </a:p>
          <a:p>
            <a:pPr>
              <a:lnSpc>
                <a:spcPct val="150000"/>
              </a:lnSpc>
            </a:pPr>
            <a:endParaRPr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EF3AA-5C97-245B-E21C-65DA096BF0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262D5-71D0-E9EB-30E4-748EA721336E}"/>
              </a:ext>
            </a:extLst>
          </p:cNvPr>
          <p:cNvSpPr>
            <a:spLocks noGrp="1"/>
          </p:cNvSpPr>
          <p:nvPr>
            <p:ph idx="1"/>
          </p:nvPr>
        </p:nvSpPr>
        <p:spPr>
          <a:xfrm>
            <a:off x="457200" y="237744"/>
            <a:ext cx="8229600" cy="5888419"/>
          </a:xfrm>
        </p:spPr>
        <p:txBody>
          <a:bodyPr>
            <a:normAutofit/>
          </a:bodyPr>
          <a:lstStyle/>
          <a:p>
            <a:pPr marL="0" indent="0">
              <a:buNone/>
            </a:pPr>
            <a:endParaRPr lang="en-US" sz="1800" dirty="0"/>
          </a:p>
          <a:p>
            <a:r>
              <a:rPr lang="en-US" sz="1800" b="1" dirty="0"/>
              <a:t>User Roles:</a:t>
            </a:r>
            <a:endParaRPr lang="en-US" sz="1800" dirty="0"/>
          </a:p>
          <a:p>
            <a:pPr lvl="1"/>
            <a:r>
              <a:rPr lang="en-US" sz="1800" i="1" dirty="0"/>
              <a:t>Customer Module</a:t>
            </a:r>
            <a:r>
              <a:rPr lang="en-US" sz="1800" dirty="0"/>
              <a:t> – Ticket booking, cancellation, payment, and e-ticket access.</a:t>
            </a:r>
          </a:p>
          <a:p>
            <a:pPr lvl="1"/>
            <a:r>
              <a:rPr lang="en-US" sz="1800" i="1" dirty="0"/>
              <a:t>Admin Module</a:t>
            </a:r>
            <a:r>
              <a:rPr lang="en-US" sz="1800" dirty="0"/>
              <a:t> – Manage schedules, prices, ticket inventory, and generate reports.</a:t>
            </a:r>
          </a:p>
          <a:p>
            <a:r>
              <a:rPr lang="en-US" sz="1800" b="1" dirty="0"/>
              <a:t>Scalability &amp; Accessibility:</a:t>
            </a:r>
            <a:r>
              <a:rPr lang="en-US" sz="1800" dirty="0"/>
              <a:t> Designed for 24/7 online access and able to handle growing user demand.</a:t>
            </a:r>
          </a:p>
          <a:p>
            <a:r>
              <a:rPr lang="en-US" sz="1800" b="1" dirty="0"/>
              <a:t>Error Handling:</a:t>
            </a:r>
            <a:r>
              <a:rPr lang="en-US" sz="1800" dirty="0"/>
              <a:t> Proper notifications for failed payments, booking errors, or seat unavailability.</a:t>
            </a:r>
          </a:p>
          <a:p>
            <a:endParaRPr lang="en-US" sz="1800" dirty="0"/>
          </a:p>
          <a:p>
            <a:endParaRPr lang="en-US" sz="1800" dirty="0"/>
          </a:p>
          <a:p>
            <a:pPr marL="0" indent="0">
              <a:buNone/>
            </a:pPr>
            <a:r>
              <a:rPr lang="en-US" sz="1800" b="1" dirty="0"/>
              <a:t>Advantages of the Proposed Method</a:t>
            </a:r>
          </a:p>
          <a:p>
            <a:pPr marL="0" indent="0">
              <a:buNone/>
            </a:pPr>
            <a:endParaRPr lang="en-US" sz="1800" b="1" dirty="0"/>
          </a:p>
          <a:p>
            <a:r>
              <a:rPr lang="en-US" sz="1800" dirty="0"/>
              <a:t>Eliminates delays and errors in manual booking.</a:t>
            </a:r>
          </a:p>
          <a:p>
            <a:r>
              <a:rPr lang="en-US" sz="1800" dirty="0"/>
              <a:t>Provides transparency and convenience to customers.</a:t>
            </a:r>
          </a:p>
          <a:p>
            <a:r>
              <a:rPr lang="en-US" sz="1800" dirty="0"/>
              <a:t>Reduces administrative workload with automated processes.</a:t>
            </a:r>
          </a:p>
          <a:p>
            <a:r>
              <a:rPr lang="en-US" sz="1800" dirty="0"/>
              <a:t>Enhances business efficiency through reporting and monitoring tools.</a:t>
            </a:r>
          </a:p>
          <a:p>
            <a:pPr marL="0" indent="0">
              <a:buNone/>
            </a:pPr>
            <a:endParaRPr sz="1800" dirty="0"/>
          </a:p>
        </p:txBody>
      </p:sp>
    </p:spTree>
    <p:extLst>
      <p:ext uri="{BB962C8B-B14F-4D97-AF65-F5344CB8AC3E}">
        <p14:creationId xmlns:p14="http://schemas.microsoft.com/office/powerpoint/2010/main" val="13147486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Workflow of the Project</a:t>
            </a:r>
            <a:endParaRPr b="1" dirty="0"/>
          </a:p>
        </p:txBody>
      </p:sp>
      <p:sp>
        <p:nvSpPr>
          <p:cNvPr id="3" name="Content Placeholder 2"/>
          <p:cNvSpPr>
            <a:spLocks noGrp="1"/>
          </p:cNvSpPr>
          <p:nvPr>
            <p:ph idx="1"/>
          </p:nvPr>
        </p:nvSpPr>
        <p:spPr/>
        <p:txBody>
          <a:bodyPr/>
          <a:lstStyle/>
          <a:p>
            <a:endParaRPr lang="en-US" sz="1800" b="1" dirty="0"/>
          </a:p>
          <a:p>
            <a:pPr marL="0" indent="0">
              <a:buNone/>
            </a:pPr>
            <a:r>
              <a:rPr lang="en-US" sz="1800" b="1" dirty="0"/>
              <a:t>Step 1: User Registration &amp; Login</a:t>
            </a:r>
          </a:p>
          <a:p>
            <a:r>
              <a:rPr lang="en-US" sz="1800" dirty="0"/>
              <a:t>New users register with personal details.</a:t>
            </a:r>
          </a:p>
          <a:p>
            <a:r>
              <a:rPr lang="en-US" sz="1800" dirty="0"/>
              <a:t>Existing users log in with credentials.</a:t>
            </a:r>
          </a:p>
          <a:p>
            <a:endParaRPr lang="en-US" sz="1800" dirty="0"/>
          </a:p>
          <a:p>
            <a:pPr marL="0" indent="0">
              <a:buNone/>
            </a:pPr>
            <a:r>
              <a:rPr lang="en-US" sz="1800" b="1" dirty="0"/>
              <a:t>Step 2: Search for Tickets</a:t>
            </a:r>
          </a:p>
          <a:p>
            <a:r>
              <a:rPr lang="en-US" sz="1800" dirty="0"/>
              <a:t>User enters journey details (source, destination, date, category).</a:t>
            </a:r>
          </a:p>
          <a:p>
            <a:r>
              <a:rPr lang="en-US" sz="1800" dirty="0"/>
              <a:t>System displays available schedules and seat availability.</a:t>
            </a:r>
          </a:p>
          <a:p>
            <a:endParaRPr lang="en-US" sz="1800" dirty="0"/>
          </a:p>
          <a:p>
            <a:pPr marL="0" indent="0">
              <a:buNone/>
            </a:pPr>
            <a:r>
              <a:rPr lang="en-US" sz="1800" b="1" dirty="0"/>
              <a:t>Step 3: Ticket Selection</a:t>
            </a:r>
          </a:p>
          <a:p>
            <a:r>
              <a:rPr lang="en-US" sz="1800" dirty="0"/>
              <a:t>User selects preferred schedule and seats.</a:t>
            </a:r>
          </a:p>
          <a:p>
            <a:r>
              <a:rPr lang="en-US" sz="1800" dirty="0"/>
              <a:t>System temporarily holds the seat to avoid duplication</a:t>
            </a:r>
          </a:p>
          <a:p>
            <a:pPr>
              <a:lnSpc>
                <a:spcPct val="150000"/>
              </a:lnSpc>
            </a:pPr>
            <a:endParaRPr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78983-F955-D90C-6815-EB2DDE69C2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710B4D-4547-421C-1694-51EB24FB53CA}"/>
              </a:ext>
            </a:extLst>
          </p:cNvPr>
          <p:cNvSpPr>
            <a:spLocks noGrp="1"/>
          </p:cNvSpPr>
          <p:nvPr>
            <p:ph idx="1"/>
          </p:nvPr>
        </p:nvSpPr>
        <p:spPr>
          <a:xfrm>
            <a:off x="457200" y="274320"/>
            <a:ext cx="8165592" cy="6190488"/>
          </a:xfrm>
        </p:spPr>
        <p:txBody>
          <a:bodyPr/>
          <a:lstStyle/>
          <a:p>
            <a:pPr marL="0" indent="0">
              <a:buNone/>
            </a:pPr>
            <a:r>
              <a:rPr lang="en-US" sz="1800" b="1" dirty="0"/>
              <a:t>Step 4: Payment &amp; Confirmation</a:t>
            </a:r>
          </a:p>
          <a:p>
            <a:r>
              <a:rPr lang="en-US" sz="1800" dirty="0"/>
              <a:t>User proceeds to secure payment gateway.</a:t>
            </a:r>
          </a:p>
          <a:p>
            <a:r>
              <a:rPr lang="en-US" sz="1800" dirty="0"/>
              <a:t>On successful payment, booking is confirmed.</a:t>
            </a:r>
          </a:p>
          <a:p>
            <a:r>
              <a:rPr lang="en-US" sz="1800" dirty="0"/>
              <a:t>An e-ticket is generated and sent to the user via email/SMS.</a:t>
            </a:r>
          </a:p>
          <a:p>
            <a:endParaRPr lang="en-US" sz="1800" dirty="0"/>
          </a:p>
          <a:p>
            <a:pPr marL="0" indent="0">
              <a:buNone/>
            </a:pPr>
            <a:r>
              <a:rPr lang="en-US" sz="1800" b="1" dirty="0"/>
              <a:t>Step 5: Cancellation/Refund (Optional)</a:t>
            </a:r>
          </a:p>
          <a:p>
            <a:r>
              <a:rPr lang="en-US" sz="1800" dirty="0"/>
              <a:t>User may cancel tickets before journey.</a:t>
            </a:r>
          </a:p>
          <a:p>
            <a:r>
              <a:rPr lang="en-US" sz="1800" dirty="0"/>
              <a:t>System processes refund as per policy.</a:t>
            </a:r>
          </a:p>
          <a:p>
            <a:endParaRPr lang="en-US" sz="1800" dirty="0"/>
          </a:p>
          <a:p>
            <a:pPr marL="0" indent="0">
              <a:buNone/>
            </a:pPr>
            <a:r>
              <a:rPr lang="en-US" sz="1800" b="1" dirty="0"/>
              <a:t>Step 6: Admin Operations</a:t>
            </a:r>
          </a:p>
          <a:p>
            <a:r>
              <a:rPr lang="en-US" sz="1800" dirty="0"/>
              <a:t>Admin manages schedules, routes, pricing, and ticket inventory.</a:t>
            </a:r>
          </a:p>
          <a:p>
            <a:r>
              <a:rPr lang="en-US" sz="1800" dirty="0"/>
              <a:t>Admin generates reports on bookings, cancellations, and revenue.</a:t>
            </a:r>
          </a:p>
          <a:p>
            <a:endParaRPr lang="en-US" sz="1800" dirty="0"/>
          </a:p>
          <a:p>
            <a:pPr lvl="1"/>
            <a:endParaRPr lang="en-US" sz="1400" dirty="0"/>
          </a:p>
          <a:p>
            <a:pPr>
              <a:lnSpc>
                <a:spcPct val="150000"/>
              </a:lnSpc>
            </a:pPr>
            <a:endParaRPr sz="1800" dirty="0"/>
          </a:p>
        </p:txBody>
      </p:sp>
    </p:spTree>
    <p:extLst>
      <p:ext uri="{BB962C8B-B14F-4D97-AF65-F5344CB8AC3E}">
        <p14:creationId xmlns:p14="http://schemas.microsoft.com/office/powerpoint/2010/main" val="29298711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1DCB5525-F30F-C058-F9F7-EFC63B75F73B}"/>
              </a:ext>
            </a:extLst>
          </p:cNvPr>
          <p:cNvPicPr>
            <a:picLocks noGrp="1" noChangeAspect="1"/>
          </p:cNvPicPr>
          <p:nvPr>
            <p:ph idx="1"/>
          </p:nvPr>
        </p:nvPicPr>
        <p:blipFill>
          <a:blip r:embed="rId2"/>
          <a:stretch>
            <a:fillRect/>
          </a:stretch>
        </p:blipFill>
        <p:spPr>
          <a:xfrm>
            <a:off x="1492080" y="1099457"/>
            <a:ext cx="6256507" cy="4789714"/>
          </a:xfrm>
        </p:spPr>
      </p:pic>
      <p:sp>
        <p:nvSpPr>
          <p:cNvPr id="10" name="TextBox 9">
            <a:extLst>
              <a:ext uri="{FF2B5EF4-FFF2-40B4-BE49-F238E27FC236}">
                <a16:creationId xmlns:a16="http://schemas.microsoft.com/office/drawing/2014/main" id="{2B972FB9-D20B-3D9E-6825-B9AF7E5115A8}"/>
              </a:ext>
            </a:extLst>
          </p:cNvPr>
          <p:cNvSpPr txBox="1"/>
          <p:nvPr/>
        </p:nvSpPr>
        <p:spPr>
          <a:xfrm>
            <a:off x="3233057" y="5889171"/>
            <a:ext cx="3875314" cy="369332"/>
          </a:xfrm>
          <a:prstGeom prst="rect">
            <a:avLst/>
          </a:prstGeom>
          <a:noFill/>
        </p:spPr>
        <p:txBody>
          <a:bodyPr wrap="square" rtlCol="0">
            <a:spAutoFit/>
          </a:bodyPr>
          <a:lstStyle/>
          <a:p>
            <a:r>
              <a:rPr lang="en-US" dirty="0"/>
              <a:t>Sequence Diagram </a:t>
            </a:r>
            <a:endParaRPr lang="en-IN" dirty="0"/>
          </a:p>
        </p:txBody>
      </p:sp>
      <p:sp>
        <p:nvSpPr>
          <p:cNvPr id="2" name="TextBox 1">
            <a:extLst>
              <a:ext uri="{FF2B5EF4-FFF2-40B4-BE49-F238E27FC236}">
                <a16:creationId xmlns:a16="http://schemas.microsoft.com/office/drawing/2014/main" id="{D12B339F-AF63-83E2-DE5D-2A1CE961C5A0}"/>
              </a:ext>
            </a:extLst>
          </p:cNvPr>
          <p:cNvSpPr txBox="1"/>
          <p:nvPr/>
        </p:nvSpPr>
        <p:spPr>
          <a:xfrm>
            <a:off x="1902958" y="545068"/>
            <a:ext cx="5889172" cy="369332"/>
          </a:xfrm>
          <a:prstGeom prst="rect">
            <a:avLst/>
          </a:prstGeom>
          <a:noFill/>
        </p:spPr>
        <p:txBody>
          <a:bodyPr wrap="square" rtlCol="0">
            <a:spAutoFit/>
          </a:bodyPr>
          <a:lstStyle/>
          <a:p>
            <a:r>
              <a:rPr lang="en-US" dirty="0"/>
              <a:t>Example –  Online Railway Ticket Reservation System</a:t>
            </a:r>
            <a:endParaRPr lang="en-IN" dirty="0"/>
          </a:p>
        </p:txBody>
      </p:sp>
    </p:spTree>
    <p:extLst>
      <p:ext uri="{BB962C8B-B14F-4D97-AF65-F5344CB8AC3E}">
        <p14:creationId xmlns:p14="http://schemas.microsoft.com/office/powerpoint/2010/main" val="9670655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9AD4-A50E-221C-D9BC-E22A98CBD0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5228D9-3417-2F14-D882-6E5C143A14D6}"/>
              </a:ext>
            </a:extLst>
          </p:cNvPr>
          <p:cNvSpPr>
            <a:spLocks noGrp="1"/>
          </p:cNvSpPr>
          <p:nvPr>
            <p:ph type="title"/>
          </p:nvPr>
        </p:nvSpPr>
        <p:spPr/>
        <p:txBody>
          <a:bodyPr/>
          <a:lstStyle/>
          <a:p>
            <a:r>
              <a:rPr b="1" dirty="0"/>
              <a:t>Results &amp; Discussion</a:t>
            </a:r>
          </a:p>
        </p:txBody>
      </p:sp>
      <p:sp>
        <p:nvSpPr>
          <p:cNvPr id="3" name="Content Placeholder 2">
            <a:extLst>
              <a:ext uri="{FF2B5EF4-FFF2-40B4-BE49-F238E27FC236}">
                <a16:creationId xmlns:a16="http://schemas.microsoft.com/office/drawing/2014/main" id="{04B0BAFD-E7DF-4103-770C-E3F5165348E8}"/>
              </a:ext>
            </a:extLst>
          </p:cNvPr>
          <p:cNvSpPr>
            <a:spLocks noGrp="1"/>
          </p:cNvSpPr>
          <p:nvPr>
            <p:ph idx="1"/>
          </p:nvPr>
        </p:nvSpPr>
        <p:spPr>
          <a:xfrm>
            <a:off x="384048" y="1417638"/>
            <a:ext cx="8302752" cy="5083746"/>
          </a:xfrm>
        </p:spPr>
        <p:txBody>
          <a:bodyPr>
            <a:normAutofit/>
          </a:bodyPr>
          <a:lstStyle/>
          <a:p>
            <a:pPr marL="0" indent="0">
              <a:buNone/>
            </a:pPr>
            <a:r>
              <a:rPr lang="en-US" sz="1800" b="1" dirty="0"/>
              <a:t>Results</a:t>
            </a:r>
          </a:p>
          <a:p>
            <a:pPr marL="0" indent="0">
              <a:buNone/>
            </a:pPr>
            <a:endParaRPr lang="en-US" sz="1800" b="1" dirty="0"/>
          </a:p>
          <a:p>
            <a:r>
              <a:rPr lang="en-US" sz="1800" dirty="0"/>
              <a:t>The Online Ticket Reservation System successfully achieves the following outcomes:</a:t>
            </a:r>
          </a:p>
          <a:p>
            <a:r>
              <a:rPr lang="en-US" sz="1800" b="1" dirty="0"/>
              <a:t>User Registration &amp; Login:</a:t>
            </a:r>
            <a:r>
              <a:rPr lang="en-US" sz="1800" dirty="0"/>
              <a:t> Secure and role-based access for customers and administrators.</a:t>
            </a:r>
          </a:p>
          <a:p>
            <a:r>
              <a:rPr lang="en-US" sz="1800" b="1" dirty="0"/>
              <a:t>Ticket Booking:</a:t>
            </a:r>
            <a:r>
              <a:rPr lang="en-US" sz="1800" dirty="0"/>
              <a:t> Real-time availability check, seat selection, and instant confirmation.</a:t>
            </a:r>
          </a:p>
          <a:p>
            <a:r>
              <a:rPr lang="en-US" sz="1800" b="1" dirty="0"/>
              <a:t>Payment Integration:</a:t>
            </a:r>
            <a:r>
              <a:rPr lang="en-US" sz="1800" dirty="0"/>
              <a:t> Smooth and secure payment processing with automatic e-ticket generation.</a:t>
            </a:r>
          </a:p>
          <a:p>
            <a:r>
              <a:rPr lang="en-US" sz="1800" b="1" dirty="0"/>
              <a:t>Cancellation/Refund:</a:t>
            </a:r>
            <a:r>
              <a:rPr lang="en-US" sz="1800" dirty="0"/>
              <a:t> Flexible ticket cancellation with automated refund mechanism.</a:t>
            </a:r>
          </a:p>
          <a:p>
            <a:r>
              <a:rPr lang="en-US" sz="1800" b="1" dirty="0"/>
              <a:t>Admin Dashboard:</a:t>
            </a:r>
            <a:r>
              <a:rPr lang="en-US" sz="1800" dirty="0"/>
              <a:t> Tools to manage schedules, pricing, and ticket inventory effectively.</a:t>
            </a:r>
          </a:p>
          <a:p>
            <a:r>
              <a:rPr lang="en-US" sz="1800" b="1" dirty="0"/>
              <a:t>Reporting Module:</a:t>
            </a:r>
            <a:r>
              <a:rPr lang="en-US" sz="1800" dirty="0"/>
              <a:t> Statistical and financial reports for monitoring sales and performance.</a:t>
            </a:r>
          </a:p>
          <a:p>
            <a:pPr>
              <a:lnSpc>
                <a:spcPct val="150000"/>
              </a:lnSpc>
            </a:pPr>
            <a:endParaRPr sz="1800" dirty="0"/>
          </a:p>
        </p:txBody>
      </p:sp>
    </p:spTree>
    <p:extLst>
      <p:ext uri="{BB962C8B-B14F-4D97-AF65-F5344CB8AC3E}">
        <p14:creationId xmlns:p14="http://schemas.microsoft.com/office/powerpoint/2010/main" val="30583270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B2B4-1162-D20C-BFDC-8681A1332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D3F25-CECF-7EFD-CE56-2AE8C5CB2137}"/>
              </a:ext>
            </a:extLst>
          </p:cNvPr>
          <p:cNvSpPr>
            <a:spLocks noGrp="1"/>
          </p:cNvSpPr>
          <p:nvPr>
            <p:ph type="title"/>
          </p:nvPr>
        </p:nvSpPr>
        <p:spPr/>
        <p:txBody>
          <a:bodyPr/>
          <a:lstStyle/>
          <a:p>
            <a:r>
              <a:rPr b="1" dirty="0"/>
              <a:t>Results &amp; Discussion</a:t>
            </a:r>
          </a:p>
        </p:txBody>
      </p:sp>
      <p:sp>
        <p:nvSpPr>
          <p:cNvPr id="3" name="Content Placeholder 2">
            <a:extLst>
              <a:ext uri="{FF2B5EF4-FFF2-40B4-BE49-F238E27FC236}">
                <a16:creationId xmlns:a16="http://schemas.microsoft.com/office/drawing/2014/main" id="{6059D29F-1601-0556-2756-8D8E4839767D}"/>
              </a:ext>
            </a:extLst>
          </p:cNvPr>
          <p:cNvSpPr>
            <a:spLocks noGrp="1"/>
          </p:cNvSpPr>
          <p:nvPr>
            <p:ph idx="1"/>
          </p:nvPr>
        </p:nvSpPr>
        <p:spPr>
          <a:xfrm>
            <a:off x="384048" y="1408812"/>
            <a:ext cx="8302752" cy="5083746"/>
          </a:xfrm>
        </p:spPr>
        <p:txBody>
          <a:bodyPr>
            <a:normAutofit/>
          </a:bodyPr>
          <a:lstStyle/>
          <a:p>
            <a:pPr marL="0" indent="0">
              <a:buNone/>
            </a:pPr>
            <a:r>
              <a:rPr lang="en-US" sz="1800" b="1" dirty="0"/>
              <a:t>Discussion</a:t>
            </a:r>
          </a:p>
          <a:p>
            <a:pPr marL="0" indent="0">
              <a:buNone/>
            </a:pPr>
            <a:endParaRPr lang="en-US" sz="1800" b="1" dirty="0"/>
          </a:p>
          <a:p>
            <a:r>
              <a:rPr lang="en-US" sz="1800" dirty="0"/>
              <a:t>The system </a:t>
            </a:r>
            <a:r>
              <a:rPr lang="en-US" sz="1800" b="1" dirty="0"/>
              <a:t>improves efficiency</a:t>
            </a:r>
            <a:r>
              <a:rPr lang="en-US" sz="1800" dirty="0"/>
              <a:t> by automating booking and reducing manual work.</a:t>
            </a:r>
          </a:p>
          <a:p>
            <a:r>
              <a:rPr lang="en-US" sz="1800" dirty="0"/>
              <a:t>It ensures </a:t>
            </a:r>
            <a:r>
              <a:rPr lang="en-US" sz="1800" b="1" dirty="0"/>
              <a:t>transparency and convenience</a:t>
            </a:r>
            <a:r>
              <a:rPr lang="en-US" sz="1800" dirty="0"/>
              <a:t> for customers through 24/7 accessibility.</a:t>
            </a:r>
          </a:p>
          <a:p>
            <a:r>
              <a:rPr lang="en-US" sz="1800" b="1" dirty="0"/>
              <a:t>Data consistency and reliability</a:t>
            </a:r>
            <a:r>
              <a:rPr lang="en-US" sz="1800" dirty="0"/>
              <a:t> are maintained via a centralized database.</a:t>
            </a:r>
          </a:p>
          <a:p>
            <a:r>
              <a:rPr lang="en-US" sz="1800" dirty="0"/>
              <a:t>The solution is </a:t>
            </a:r>
            <a:r>
              <a:rPr lang="en-US" sz="1800" b="1" dirty="0"/>
              <a:t>scalable</a:t>
            </a:r>
            <a:r>
              <a:rPr lang="en-US" sz="1800" dirty="0"/>
              <a:t>, handling multiple concurrent users without errors like double booking.</a:t>
            </a:r>
          </a:p>
          <a:p>
            <a:r>
              <a:rPr lang="en-US" sz="1800" dirty="0"/>
              <a:t>Challenges include the need for continuous </a:t>
            </a:r>
            <a:r>
              <a:rPr lang="en-US" sz="1800" b="1" dirty="0"/>
              <a:t>system maintenance</a:t>
            </a:r>
            <a:r>
              <a:rPr lang="en-US" sz="1800" dirty="0"/>
              <a:t>, </a:t>
            </a:r>
            <a:r>
              <a:rPr lang="en-US" sz="1800" b="1" dirty="0"/>
              <a:t>secure handling of sensitive data</a:t>
            </a:r>
            <a:r>
              <a:rPr lang="en-US" sz="1800" dirty="0"/>
              <a:t>, and </a:t>
            </a:r>
            <a:r>
              <a:rPr lang="en-US" sz="1800" b="1" dirty="0"/>
              <a:t>dependence on internet connectivity</a:t>
            </a:r>
            <a:r>
              <a:rPr lang="en-US" sz="1800" dirty="0"/>
              <a:t>.</a:t>
            </a:r>
          </a:p>
          <a:p>
            <a:r>
              <a:rPr lang="en-US" sz="1800" dirty="0"/>
              <a:t>Overall, the system provides a </a:t>
            </a:r>
            <a:r>
              <a:rPr lang="en-US" sz="1800" b="1" dirty="0"/>
              <a:t>robust, user-friendly, and reliable platform</a:t>
            </a:r>
            <a:r>
              <a:rPr lang="en-US" sz="1800" dirty="0"/>
              <a:t> that enhances customer satisfaction and business operations compared to traditional manual reservation methods.</a:t>
            </a:r>
          </a:p>
          <a:p>
            <a:pPr>
              <a:lnSpc>
                <a:spcPct val="150000"/>
              </a:lnSpc>
            </a:pPr>
            <a:endParaRPr sz="1800" dirty="0"/>
          </a:p>
        </p:txBody>
      </p:sp>
    </p:spTree>
    <p:extLst>
      <p:ext uri="{BB962C8B-B14F-4D97-AF65-F5344CB8AC3E}">
        <p14:creationId xmlns:p14="http://schemas.microsoft.com/office/powerpoint/2010/main" val="2017664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3" name="Content Placeholder 2"/>
          <p:cNvSpPr>
            <a:spLocks noGrp="1"/>
          </p:cNvSpPr>
          <p:nvPr>
            <p:ph idx="1"/>
          </p:nvPr>
        </p:nvSpPr>
        <p:spPr>
          <a:xfrm>
            <a:off x="384048" y="1664208"/>
            <a:ext cx="8229600" cy="4919154"/>
          </a:xfrm>
        </p:spPr>
        <p:txBody>
          <a:bodyPr/>
          <a:lstStyle/>
          <a:p>
            <a:r>
              <a:rPr lang="en-US" sz="1800" dirty="0"/>
              <a:t>The Online Ticket Reservation System provides a </a:t>
            </a:r>
            <a:r>
              <a:rPr lang="en-US" sz="1800" b="1" dirty="0"/>
              <a:t>comprehensive, reliable, and efficient solution</a:t>
            </a:r>
            <a:r>
              <a:rPr lang="en-US" sz="1800" dirty="0"/>
              <a:t> for automating the process of ticket booking. By replacing the traditional manual system, it ensures </a:t>
            </a:r>
            <a:r>
              <a:rPr lang="en-US" sz="1800" b="1" dirty="0"/>
              <a:t>real-time availability, secure transactions, and convenient access</a:t>
            </a:r>
            <a:r>
              <a:rPr lang="en-US" sz="1800" dirty="0"/>
              <a:t> for customers while significantly reducing administrative workload.</a:t>
            </a:r>
          </a:p>
          <a:p>
            <a:endParaRPr lang="en-US" sz="1800" dirty="0"/>
          </a:p>
          <a:p>
            <a:r>
              <a:rPr lang="en-US" sz="1800" dirty="0"/>
              <a:t>The system enhances </a:t>
            </a:r>
            <a:r>
              <a:rPr lang="en-US" sz="1800" b="1" dirty="0"/>
              <a:t>customer satisfaction</a:t>
            </a:r>
            <a:r>
              <a:rPr lang="en-US" sz="1800" dirty="0"/>
              <a:t> by offering transparency, 24/7 accessibility, and instant e-ticket generation. For administrators, it delivers better control through </a:t>
            </a:r>
            <a:r>
              <a:rPr lang="en-US" sz="1800" b="1" dirty="0"/>
              <a:t>schedule management, revenue tracking, and reporting tools</a:t>
            </a:r>
            <a:r>
              <a:rPr lang="en-US" sz="1800" dirty="0"/>
              <a:t>.</a:t>
            </a:r>
          </a:p>
          <a:p>
            <a:endParaRPr lang="en-US" sz="1800" dirty="0"/>
          </a:p>
          <a:p>
            <a:r>
              <a:rPr lang="en-US" sz="1800" dirty="0"/>
              <a:t>Although challenges such as </a:t>
            </a:r>
            <a:r>
              <a:rPr lang="en-US" sz="1800" b="1" dirty="0"/>
              <a:t>data security, internet dependency, and system maintenance</a:t>
            </a:r>
            <a:r>
              <a:rPr lang="en-US" sz="1800" dirty="0"/>
              <a:t> must be addressed, the project demonstrates that an online reservation system can serve as a </a:t>
            </a:r>
            <a:r>
              <a:rPr lang="en-US" sz="1800" b="1" dirty="0"/>
              <a:t>robust, scalable, and user-friendly platform</a:t>
            </a:r>
            <a:r>
              <a:rPr lang="en-US" sz="1800" dirty="0"/>
              <a:t>. It not only streamlines operations but also supports the growing demand for </a:t>
            </a:r>
            <a:r>
              <a:rPr lang="en-US" sz="1800" b="1" dirty="0"/>
              <a:t>digital transformation in ticketing services</a:t>
            </a:r>
            <a:r>
              <a:rPr lang="en-US" sz="1800" dirty="0"/>
              <a:t>.</a:t>
            </a:r>
          </a:p>
          <a:p>
            <a:pPr marL="0" indent="0">
              <a:buNone/>
            </a:pPr>
            <a:endParaRPr lang="en-IN"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030D471-D519-63A9-034B-C7440C4263DB}"/>
              </a:ext>
            </a:extLst>
          </p:cNvPr>
          <p:cNvSpPr txBox="1"/>
          <p:nvPr/>
        </p:nvSpPr>
        <p:spPr>
          <a:xfrm>
            <a:off x="2423160" y="3182112"/>
            <a:ext cx="4507992" cy="769441"/>
          </a:xfrm>
          <a:prstGeom prst="rect">
            <a:avLst/>
          </a:prstGeom>
          <a:noFill/>
        </p:spPr>
        <p:txBody>
          <a:bodyPr wrap="square" rtlCol="0">
            <a:spAutoFit/>
          </a:bodyPr>
          <a:lstStyle/>
          <a:p>
            <a:pPr algn="ctr"/>
            <a:r>
              <a:rPr lang="en-IN" sz="4400" b="1" dirty="0"/>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309</TotalTime>
  <Words>2238</Words>
  <Application>Microsoft Office PowerPoint</Application>
  <PresentationFormat>On-screen Show (4:3)</PresentationFormat>
  <Paragraphs>236</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Online Ticket Reservation System</vt:lpstr>
      <vt:lpstr>Index</vt:lpstr>
      <vt:lpstr>Team members Work distribution</vt:lpstr>
      <vt:lpstr>Introduction</vt:lpstr>
      <vt:lpstr>PowerPoint Presentation</vt:lpstr>
      <vt:lpstr>PowerPoint Presentation</vt:lpstr>
      <vt:lpstr>Project Objectives</vt:lpstr>
      <vt:lpstr>PowerPoint Presentation</vt:lpstr>
      <vt:lpstr>PowerPoint Presentation</vt:lpstr>
      <vt:lpstr>Literature Review</vt:lpstr>
      <vt:lpstr>PowerPoint Presentation</vt:lpstr>
      <vt:lpstr>PowerPoint Presentation</vt:lpstr>
      <vt:lpstr>PowerPoint Presentation</vt:lpstr>
      <vt:lpstr>PowerPoint Presentation</vt:lpstr>
      <vt:lpstr>PowerPoint Presentation</vt:lpstr>
      <vt:lpstr>Problem Statement</vt:lpstr>
      <vt:lpstr>Methodology (Step-by-Step)</vt:lpstr>
      <vt:lpstr>PowerPoint Presentation</vt:lpstr>
      <vt:lpstr>PowerPoint Presentation</vt:lpstr>
      <vt:lpstr>Proposed Method</vt:lpstr>
      <vt:lpstr>PowerPoint Presentation</vt:lpstr>
      <vt:lpstr>Workflow of the Project</vt:lpstr>
      <vt:lpstr>PowerPoint Presentation</vt:lpstr>
      <vt:lpstr>PowerPoint Presentation</vt:lpstr>
      <vt:lpstr>Results &amp; Discussion</vt:lpstr>
      <vt:lpstr>Results &amp; Discussion</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Poojasri</dc:creator>
  <cp:keywords/>
  <dc:description>generated using python-pptx</dc:description>
  <cp:lastModifiedBy>Deepika sharma</cp:lastModifiedBy>
  <cp:revision>4</cp:revision>
  <dcterms:created xsi:type="dcterms:W3CDTF">2013-01-27T09:14:16Z</dcterms:created>
  <dcterms:modified xsi:type="dcterms:W3CDTF">2025-09-15T05:03:08Z</dcterms:modified>
  <cp:category/>
</cp:coreProperties>
</file>